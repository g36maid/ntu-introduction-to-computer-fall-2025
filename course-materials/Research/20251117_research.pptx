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rchivo Black" panose="02020500000000000000" charset="0"/>
      <p:regular r:id="rId12"/>
    </p:embeddedFont>
    <p:embeddedFont>
      <p:font typeface="Calibri" panose="020F0502020204030204" pitchFamily="34" charset="0"/>
      <p:regular r:id="rId13"/>
      <p:bold r:id="rId14"/>
      <p:italic r:id="rId15"/>
      <p:boldItalic r:id="rId16"/>
    </p:embeddedFont>
    <p:embeddedFont>
      <p:font typeface="Canva Sans Bold" panose="02020500000000000000" charset="0"/>
      <p:regular r:id="rId17"/>
    </p:embeddedFont>
    <p:embeddedFont>
      <p:font typeface="Quicksand" panose="02020500000000000000" charset="0"/>
      <p:regular r:id="rId18"/>
    </p:embeddedFont>
    <p:embeddedFont>
      <p:font typeface="Quicksand Bold" panose="02020500000000000000"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25" d="100"/>
          <a:sy n="25" d="100"/>
        </p:scale>
        <p:origin x="53"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27.05.2025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Faster Whisper excels in speed, simplicity, and ease of deployment for general transcription tasks. It’s a great choice when you need fast, accurate transcription for common use cases without worrying about hardware or customizations.</a:t>
            </a:r>
          </a:p>
          <a:p>
            <a:endParaRPr lang="en-US"/>
          </a:p>
          <a:p>
            <a:r>
              <a:rPr lang="en-US"/>
              <a:t>NeMo shines when you need advanced features like speaker diarization, noise suppression, or large-scale deployment. It’s ideal for applications requiring fine-tuned, customizable, and scalable speech models, especially when you have access to NVIDIA hardware for optimization.</a:t>
            </a:r>
          </a:p>
          <a:p>
            <a:endParaRPr lang="en-US"/>
          </a:p>
          <a:p>
            <a:endParaRPr lang="en-US"/>
          </a:p>
          <a:p>
            <a:endParaRPr lang="en-US"/>
          </a:p>
          <a:p>
            <a:r>
              <a:rPr lang="en-US"/>
              <a:t>face recognition:</a:t>
            </a:r>
          </a:p>
          <a:p>
            <a:r>
              <a:rPr lang="en-US"/>
              <a:t> by replacing the original batch-face method with face-recognition, and combining it with Euclidean distance calculation to record and distinguish the facial features of different characters. By analyzing the facial coordinates of the characters in the video and matching them with the text script assigned by the user, the system can accurately match and synchronize the dialogue content of multiple characters to achieve smooth transitions in multi-character scenes. Even in the case of frequent character switching, the system can smoothly transition, effectively reducing the sense of visual dissonance.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8.svg"/><Relationship Id="rId5" Type="http://schemas.openxmlformats.org/officeDocument/2006/relationships/image" Target="../media/image4.sv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svg"/><Relationship Id="rId7" Type="http://schemas.openxmlformats.org/officeDocument/2006/relationships/image" Target="../media/image16.png"/><Relationship Id="rId12" Type="http://schemas.openxmlformats.org/officeDocument/2006/relationships/image" Target="../media/image21.svg"/><Relationship Id="rId17" Type="http://schemas.openxmlformats.org/officeDocument/2006/relationships/image" Target="../media/image26.svg"/><Relationship Id="rId2" Type="http://schemas.openxmlformats.org/officeDocument/2006/relationships/image" Target="../media/image11.png"/><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svg"/><Relationship Id="rId10" Type="http://schemas.openxmlformats.org/officeDocument/2006/relationships/image" Target="../media/image19.svg"/><Relationship Id="rId19" Type="http://schemas.openxmlformats.org/officeDocument/2006/relationships/image" Target="../media/image28.sv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svg"/><Relationship Id="rId7"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10.svg"/><Relationship Id="rId5" Type="http://schemas.openxmlformats.org/officeDocument/2006/relationships/image" Target="../media/image8.svg"/><Relationship Id="rId10"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4921249" y="6392620"/>
            <a:ext cx="8541238" cy="1352633"/>
            <a:chOff x="0" y="0"/>
            <a:chExt cx="2249544" cy="356249"/>
          </a:xfrm>
        </p:grpSpPr>
        <p:sp>
          <p:nvSpPr>
            <p:cNvPr id="3" name="Freeform 3"/>
            <p:cNvSpPr/>
            <p:nvPr/>
          </p:nvSpPr>
          <p:spPr>
            <a:xfrm>
              <a:off x="0" y="0"/>
              <a:ext cx="2249544" cy="356249"/>
            </a:xfrm>
            <a:custGeom>
              <a:avLst/>
              <a:gdLst/>
              <a:ahLst/>
              <a:cxnLst/>
              <a:rect l="l" t="t" r="r" b="b"/>
              <a:pathLst>
                <a:path w="2249544" h="356249">
                  <a:moveTo>
                    <a:pt x="46227" y="0"/>
                  </a:moveTo>
                  <a:lnTo>
                    <a:pt x="2203317" y="0"/>
                  </a:lnTo>
                  <a:cubicBezTo>
                    <a:pt x="2215577" y="0"/>
                    <a:pt x="2227335" y="4870"/>
                    <a:pt x="2236004" y="13540"/>
                  </a:cubicBezTo>
                  <a:cubicBezTo>
                    <a:pt x="2244674" y="22209"/>
                    <a:pt x="2249544" y="33967"/>
                    <a:pt x="2249544" y="46227"/>
                  </a:cubicBezTo>
                  <a:lnTo>
                    <a:pt x="2249544" y="310022"/>
                  </a:lnTo>
                  <a:cubicBezTo>
                    <a:pt x="2249544" y="335552"/>
                    <a:pt x="2228847" y="356249"/>
                    <a:pt x="2203317" y="356249"/>
                  </a:cubicBezTo>
                  <a:lnTo>
                    <a:pt x="46227" y="356249"/>
                  </a:lnTo>
                  <a:cubicBezTo>
                    <a:pt x="20697" y="356249"/>
                    <a:pt x="0" y="335552"/>
                    <a:pt x="0" y="310022"/>
                  </a:cubicBezTo>
                  <a:lnTo>
                    <a:pt x="0" y="46227"/>
                  </a:lnTo>
                  <a:cubicBezTo>
                    <a:pt x="0" y="33967"/>
                    <a:pt x="4870" y="22209"/>
                    <a:pt x="13540" y="13540"/>
                  </a:cubicBezTo>
                  <a:cubicBezTo>
                    <a:pt x="22209" y="4870"/>
                    <a:pt x="33967" y="0"/>
                    <a:pt x="46227" y="0"/>
                  </a:cubicBezTo>
                  <a:close/>
                </a:path>
              </a:pathLst>
            </a:custGeom>
            <a:solidFill>
              <a:srgbClr val="1F285B"/>
            </a:solidFill>
          </p:spPr>
          <p:txBody>
            <a:bodyPr/>
            <a:lstStyle/>
            <a:p>
              <a:endParaRPr lang="zh-TW" altLang="en-US"/>
            </a:p>
          </p:txBody>
        </p:sp>
        <p:sp>
          <p:nvSpPr>
            <p:cNvPr id="4" name="TextBox 4"/>
            <p:cNvSpPr txBox="1"/>
            <p:nvPr/>
          </p:nvSpPr>
          <p:spPr>
            <a:xfrm>
              <a:off x="0" y="-47625"/>
              <a:ext cx="2249544" cy="403874"/>
            </a:xfrm>
            <a:prstGeom prst="rect">
              <a:avLst/>
            </a:prstGeom>
          </p:spPr>
          <p:txBody>
            <a:bodyPr lIns="50800" tIns="50800" rIns="50800" bIns="50800" rtlCol="0" anchor="ctr"/>
            <a:lstStyle/>
            <a:p>
              <a:pPr algn="ctr">
                <a:lnSpc>
                  <a:spcPts val="3499"/>
                </a:lnSpc>
              </a:pPr>
              <a:endParaRPr/>
            </a:p>
          </p:txBody>
        </p:sp>
      </p:grpSp>
      <p:sp>
        <p:nvSpPr>
          <p:cNvPr id="5" name="Freeform 5"/>
          <p:cNvSpPr/>
          <p:nvPr/>
        </p:nvSpPr>
        <p:spPr>
          <a:xfrm>
            <a:off x="1163809" y="1715654"/>
            <a:ext cx="1067226" cy="805271"/>
          </a:xfrm>
          <a:custGeom>
            <a:avLst/>
            <a:gdLst/>
            <a:ahLst/>
            <a:cxnLst/>
            <a:rect l="l" t="t" r="r" b="b"/>
            <a:pathLst>
              <a:path w="1067226" h="805271">
                <a:moveTo>
                  <a:pt x="0" y="0"/>
                </a:moveTo>
                <a:lnTo>
                  <a:pt x="1067226" y="0"/>
                </a:lnTo>
                <a:lnTo>
                  <a:pt x="1067226" y="805271"/>
                </a:lnTo>
                <a:lnTo>
                  <a:pt x="0" y="805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6" name="TextBox 6"/>
          <p:cNvSpPr txBox="1"/>
          <p:nvPr/>
        </p:nvSpPr>
        <p:spPr>
          <a:xfrm>
            <a:off x="4079889" y="6463147"/>
            <a:ext cx="10032487" cy="1144905"/>
          </a:xfrm>
          <a:prstGeom prst="rect">
            <a:avLst/>
          </a:prstGeom>
        </p:spPr>
        <p:txBody>
          <a:bodyPr lIns="0" tIns="0" rIns="0" bIns="0" rtlCol="0" anchor="t">
            <a:spAutoFit/>
          </a:bodyPr>
          <a:lstStyle/>
          <a:p>
            <a:pPr algn="ctr">
              <a:lnSpc>
                <a:spcPts val="4620"/>
              </a:lnSpc>
            </a:pPr>
            <a:r>
              <a:rPr lang="en-US" sz="3300" b="1">
                <a:solidFill>
                  <a:srgbClr val="FFFDF9"/>
                </a:solidFill>
                <a:latin typeface="Quicksand Bold"/>
                <a:ea typeface="Quicksand Bold"/>
                <a:cs typeface="Quicksand Bold"/>
                <a:sym typeface="Quicksand Bold"/>
              </a:rPr>
              <a:t>Presented by</a:t>
            </a:r>
            <a:r>
              <a:rPr lang="en-US" sz="3300">
                <a:solidFill>
                  <a:srgbClr val="FFFDF9"/>
                </a:solidFill>
                <a:latin typeface="Quicksand"/>
                <a:ea typeface="Quicksand"/>
                <a:cs typeface="Quicksand"/>
                <a:sym typeface="Quicksand"/>
              </a:rPr>
              <a:t> : 羅翡瑩 Valencia Lo</a:t>
            </a:r>
          </a:p>
          <a:p>
            <a:pPr algn="ctr">
              <a:lnSpc>
                <a:spcPts val="4620"/>
              </a:lnSpc>
            </a:pPr>
            <a:r>
              <a:rPr lang="en-US" sz="3300">
                <a:solidFill>
                  <a:srgbClr val="FFFDF9"/>
                </a:solidFill>
                <a:latin typeface="Quicksand"/>
                <a:ea typeface="Quicksand"/>
                <a:cs typeface="Quicksand"/>
                <a:sym typeface="Quicksand"/>
              </a:rPr>
              <a:t>vlooo.sch@gmail.com</a:t>
            </a:r>
          </a:p>
        </p:txBody>
      </p:sp>
      <p:sp>
        <p:nvSpPr>
          <p:cNvPr id="7" name="TextBox 7"/>
          <p:cNvSpPr txBox="1"/>
          <p:nvPr/>
        </p:nvSpPr>
        <p:spPr>
          <a:xfrm>
            <a:off x="2231035" y="2448088"/>
            <a:ext cx="14208111" cy="1915615"/>
          </a:xfrm>
          <a:prstGeom prst="rect">
            <a:avLst/>
          </a:prstGeom>
        </p:spPr>
        <p:txBody>
          <a:bodyPr lIns="0" tIns="0" rIns="0" bIns="0" rtlCol="0" anchor="t">
            <a:spAutoFit/>
          </a:bodyPr>
          <a:lstStyle/>
          <a:p>
            <a:pPr algn="ctr">
              <a:lnSpc>
                <a:spcPts val="7368"/>
              </a:lnSpc>
            </a:pPr>
            <a:r>
              <a:rPr lang="en-US" sz="7084">
                <a:solidFill>
                  <a:srgbClr val="1F285B"/>
                </a:solidFill>
                <a:latin typeface="Archivo Black"/>
                <a:ea typeface="Archivo Black"/>
                <a:cs typeface="Archivo Black"/>
                <a:sym typeface="Archivo Black"/>
              </a:rPr>
              <a:t>SYNC LIP MOVEMENTS TO DUBBING AUDIO</a:t>
            </a:r>
          </a:p>
        </p:txBody>
      </p:sp>
      <p:sp>
        <p:nvSpPr>
          <p:cNvPr id="8" name="TextBox 8"/>
          <p:cNvSpPr txBox="1"/>
          <p:nvPr/>
        </p:nvSpPr>
        <p:spPr>
          <a:xfrm>
            <a:off x="6477000" y="4225954"/>
            <a:ext cx="5799861" cy="1181485"/>
          </a:xfrm>
          <a:prstGeom prst="rect">
            <a:avLst/>
          </a:prstGeom>
        </p:spPr>
        <p:txBody>
          <a:bodyPr wrap="square" lIns="0" tIns="0" rIns="0" bIns="0" rtlCol="0" anchor="t">
            <a:spAutoFit/>
          </a:bodyPr>
          <a:lstStyle/>
          <a:p>
            <a:pPr algn="ctr">
              <a:lnSpc>
                <a:spcPts val="9656"/>
              </a:lnSpc>
              <a:spcBef>
                <a:spcPct val="0"/>
              </a:spcBef>
            </a:pPr>
            <a:r>
              <a:rPr lang="en-US" sz="6897" b="1" dirty="0" err="1">
                <a:solidFill>
                  <a:srgbClr val="1F285B"/>
                </a:solidFill>
                <a:latin typeface="Canva Sans Bold"/>
                <a:ea typeface="Canva Sans Bold"/>
                <a:cs typeface="Canva Sans Bold"/>
                <a:sym typeface="Canva Sans Bold"/>
              </a:rPr>
              <a:t>配音口型同步</a:t>
            </a:r>
            <a:endParaRPr lang="en-US" sz="6897" b="1" dirty="0">
              <a:solidFill>
                <a:srgbClr val="1F285B"/>
              </a:solidFill>
              <a:latin typeface="Canva Sans Bold"/>
              <a:ea typeface="Canva Sans Bold"/>
              <a:cs typeface="Canva Sans Bold"/>
              <a:sym typeface="Canva Sans Bold"/>
            </a:endParaRPr>
          </a:p>
        </p:txBody>
      </p:sp>
      <p:sp>
        <p:nvSpPr>
          <p:cNvPr id="9" name="Freeform 9"/>
          <p:cNvSpPr/>
          <p:nvPr/>
        </p:nvSpPr>
        <p:spPr>
          <a:xfrm>
            <a:off x="0" y="8147189"/>
            <a:ext cx="2095297" cy="3584160"/>
          </a:xfrm>
          <a:custGeom>
            <a:avLst/>
            <a:gdLst/>
            <a:ahLst/>
            <a:cxnLst/>
            <a:rect l="l" t="t" r="r" b="b"/>
            <a:pathLst>
              <a:path w="2095297" h="3584160">
                <a:moveTo>
                  <a:pt x="0" y="0"/>
                </a:moveTo>
                <a:lnTo>
                  <a:pt x="2095297" y="0"/>
                </a:lnTo>
                <a:lnTo>
                  <a:pt x="2095297" y="3584160"/>
                </a:lnTo>
                <a:lnTo>
                  <a:pt x="0" y="35841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0" name="Freeform 10"/>
          <p:cNvSpPr/>
          <p:nvPr/>
        </p:nvSpPr>
        <p:spPr>
          <a:xfrm>
            <a:off x="17259300" y="7637745"/>
            <a:ext cx="842695" cy="635851"/>
          </a:xfrm>
          <a:custGeom>
            <a:avLst/>
            <a:gdLst/>
            <a:ahLst/>
            <a:cxnLst/>
            <a:rect l="l" t="t" r="r" b="b"/>
            <a:pathLst>
              <a:path w="842695" h="635851">
                <a:moveTo>
                  <a:pt x="0" y="0"/>
                </a:moveTo>
                <a:lnTo>
                  <a:pt x="842695" y="0"/>
                </a:lnTo>
                <a:lnTo>
                  <a:pt x="842695" y="635852"/>
                </a:lnTo>
                <a:lnTo>
                  <a:pt x="0" y="6358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1" name="Freeform 11"/>
          <p:cNvSpPr/>
          <p:nvPr/>
        </p:nvSpPr>
        <p:spPr>
          <a:xfrm flipV="1">
            <a:off x="16151540" y="8394953"/>
            <a:ext cx="1950455" cy="3336397"/>
          </a:xfrm>
          <a:custGeom>
            <a:avLst/>
            <a:gdLst/>
            <a:ahLst/>
            <a:cxnLst/>
            <a:rect l="l" t="t" r="r" b="b"/>
            <a:pathLst>
              <a:path w="1950455" h="3336397">
                <a:moveTo>
                  <a:pt x="0" y="3336396"/>
                </a:moveTo>
                <a:lnTo>
                  <a:pt x="1950455" y="3336396"/>
                </a:lnTo>
                <a:lnTo>
                  <a:pt x="1950455" y="0"/>
                </a:lnTo>
                <a:lnTo>
                  <a:pt x="0" y="0"/>
                </a:lnTo>
                <a:lnTo>
                  <a:pt x="0" y="3336396"/>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12" name="Freeform 12"/>
          <p:cNvSpPr/>
          <p:nvPr/>
        </p:nvSpPr>
        <p:spPr>
          <a:xfrm>
            <a:off x="5150294" y="8688633"/>
            <a:ext cx="7990478" cy="1426849"/>
          </a:xfrm>
          <a:custGeom>
            <a:avLst/>
            <a:gdLst/>
            <a:ahLst/>
            <a:cxnLst/>
            <a:rect l="l" t="t" r="r" b="b"/>
            <a:pathLst>
              <a:path w="7990478" h="1426849">
                <a:moveTo>
                  <a:pt x="0" y="0"/>
                </a:moveTo>
                <a:lnTo>
                  <a:pt x="7990478" y="0"/>
                </a:lnTo>
                <a:lnTo>
                  <a:pt x="7990478" y="1426849"/>
                </a:lnTo>
                <a:lnTo>
                  <a:pt x="0" y="1426849"/>
                </a:lnTo>
                <a:lnTo>
                  <a:pt x="0" y="0"/>
                </a:lnTo>
                <a:close/>
              </a:path>
            </a:pathLst>
          </a:custGeom>
          <a:blipFill>
            <a:blip r:embed="rId10">
              <a:extLst>
                <a:ext uri="{96DAC541-7B7A-43D3-8B79-37D633B846F1}">
                  <asvg:svgBlip xmlns:asvg="http://schemas.microsoft.com/office/drawing/2016/SVG/main" r:embed="rId11"/>
                </a:ext>
              </a:extLst>
            </a:blip>
            <a:stretch>
              <a:fillRect l="-33800" t="-429675" r="-33469"/>
            </a:stretch>
          </a:blipFill>
        </p:spPr>
        <p:txBody>
          <a:bodyPr/>
          <a:lstStyle/>
          <a:p>
            <a:endParaRPr lang="zh-TW"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1028700" y="1975749"/>
            <a:ext cx="16230600" cy="1057275"/>
          </a:xfrm>
          <a:prstGeom prst="rect">
            <a:avLst/>
          </a:prstGeom>
        </p:spPr>
        <p:txBody>
          <a:bodyPr lIns="0" tIns="0" rIns="0" bIns="0" rtlCol="0" anchor="t">
            <a:spAutoFit/>
          </a:bodyPr>
          <a:lstStyle/>
          <a:p>
            <a:pPr algn="ctr">
              <a:lnSpc>
                <a:spcPts val="4200"/>
              </a:lnSpc>
            </a:pPr>
            <a:r>
              <a:rPr lang="en-US" sz="3000" b="1">
                <a:solidFill>
                  <a:srgbClr val="1F285B"/>
                </a:solidFill>
                <a:latin typeface="Quicksand Bold"/>
                <a:ea typeface="Quicksand Bold"/>
                <a:cs typeface="Quicksand Bold"/>
                <a:sym typeface="Quicksand Bold"/>
              </a:rPr>
              <a:t>“Have you ever watched a movie where the actor’s lip don’t match the words you hear?</a:t>
            </a:r>
          </a:p>
          <a:p>
            <a:pPr algn="ctr">
              <a:lnSpc>
                <a:spcPts val="4200"/>
              </a:lnSpc>
            </a:pPr>
            <a:r>
              <a:rPr lang="en-US" sz="3000" b="1">
                <a:solidFill>
                  <a:srgbClr val="1F285B"/>
                </a:solidFill>
                <a:latin typeface="Quicksand Bold"/>
                <a:ea typeface="Quicksand Bold"/>
                <a:cs typeface="Quicksand Bold"/>
                <a:sym typeface="Quicksand Bold"/>
              </a:rPr>
              <a:t>It feels strange, right?”</a:t>
            </a:r>
          </a:p>
        </p:txBody>
      </p:sp>
      <p:sp>
        <p:nvSpPr>
          <p:cNvPr id="3" name="Freeform 3"/>
          <p:cNvSpPr/>
          <p:nvPr/>
        </p:nvSpPr>
        <p:spPr>
          <a:xfrm>
            <a:off x="78563" y="7637745"/>
            <a:ext cx="753876" cy="568834"/>
          </a:xfrm>
          <a:custGeom>
            <a:avLst/>
            <a:gdLst/>
            <a:ahLst/>
            <a:cxnLst/>
            <a:rect l="l" t="t" r="r" b="b"/>
            <a:pathLst>
              <a:path w="753876" h="568834">
                <a:moveTo>
                  <a:pt x="0" y="0"/>
                </a:moveTo>
                <a:lnTo>
                  <a:pt x="753876" y="0"/>
                </a:lnTo>
                <a:lnTo>
                  <a:pt x="753876" y="568834"/>
                </a:lnTo>
                <a:lnTo>
                  <a:pt x="0" y="5688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4" name="Freeform 4"/>
          <p:cNvSpPr/>
          <p:nvPr/>
        </p:nvSpPr>
        <p:spPr>
          <a:xfrm>
            <a:off x="-99604" y="8370707"/>
            <a:ext cx="1864086" cy="3188655"/>
          </a:xfrm>
          <a:custGeom>
            <a:avLst/>
            <a:gdLst/>
            <a:ahLst/>
            <a:cxnLst/>
            <a:rect l="l" t="t" r="r" b="b"/>
            <a:pathLst>
              <a:path w="1864086" h="3188655">
                <a:moveTo>
                  <a:pt x="0" y="0"/>
                </a:moveTo>
                <a:lnTo>
                  <a:pt x="1864086" y="0"/>
                </a:lnTo>
                <a:lnTo>
                  <a:pt x="1864086" y="3188655"/>
                </a:lnTo>
                <a:lnTo>
                  <a:pt x="0" y="31886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5" name="Freeform 5"/>
          <p:cNvSpPr/>
          <p:nvPr/>
        </p:nvSpPr>
        <p:spPr>
          <a:xfrm>
            <a:off x="17602138" y="8370707"/>
            <a:ext cx="842695" cy="635851"/>
          </a:xfrm>
          <a:custGeom>
            <a:avLst/>
            <a:gdLst/>
            <a:ahLst/>
            <a:cxnLst/>
            <a:rect l="l" t="t" r="r" b="b"/>
            <a:pathLst>
              <a:path w="842695" h="635851">
                <a:moveTo>
                  <a:pt x="0" y="0"/>
                </a:moveTo>
                <a:lnTo>
                  <a:pt x="842695" y="0"/>
                </a:lnTo>
                <a:lnTo>
                  <a:pt x="842695" y="635851"/>
                </a:lnTo>
                <a:lnTo>
                  <a:pt x="0" y="6358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6" name="Freeform 6"/>
          <p:cNvSpPr/>
          <p:nvPr/>
        </p:nvSpPr>
        <p:spPr>
          <a:xfrm>
            <a:off x="5820133" y="8968458"/>
            <a:ext cx="6943659" cy="1239920"/>
          </a:xfrm>
          <a:custGeom>
            <a:avLst/>
            <a:gdLst/>
            <a:ahLst/>
            <a:cxnLst/>
            <a:rect l="l" t="t" r="r" b="b"/>
            <a:pathLst>
              <a:path w="6943659" h="1239920">
                <a:moveTo>
                  <a:pt x="0" y="0"/>
                </a:moveTo>
                <a:lnTo>
                  <a:pt x="6943659" y="0"/>
                </a:lnTo>
                <a:lnTo>
                  <a:pt x="6943659" y="1239920"/>
                </a:lnTo>
                <a:lnTo>
                  <a:pt x="0" y="1239920"/>
                </a:lnTo>
                <a:lnTo>
                  <a:pt x="0" y="0"/>
                </a:lnTo>
                <a:close/>
              </a:path>
            </a:pathLst>
          </a:custGeom>
          <a:blipFill>
            <a:blip r:embed="rId8">
              <a:extLst>
                <a:ext uri="{96DAC541-7B7A-43D3-8B79-37D633B846F1}">
                  <asvg:svgBlip xmlns:asvg="http://schemas.microsoft.com/office/drawing/2016/SVG/main" r:embed="rId9"/>
                </a:ext>
              </a:extLst>
            </a:blip>
            <a:stretch>
              <a:fillRect l="-33800" t="-429675" r="-33469"/>
            </a:stretch>
          </a:blipFill>
        </p:spPr>
        <p:txBody>
          <a:bodyPr/>
          <a:lstStyle/>
          <a:p>
            <a:endParaRPr lang="zh-TW" altLang="en-US"/>
          </a:p>
        </p:txBody>
      </p:sp>
      <p:sp>
        <p:nvSpPr>
          <p:cNvPr id="7" name="TextBox 7"/>
          <p:cNvSpPr txBox="1"/>
          <p:nvPr/>
        </p:nvSpPr>
        <p:spPr>
          <a:xfrm>
            <a:off x="1047649" y="3491583"/>
            <a:ext cx="16230600" cy="5324475"/>
          </a:xfrm>
          <a:prstGeom prst="rect">
            <a:avLst/>
          </a:prstGeom>
        </p:spPr>
        <p:txBody>
          <a:bodyPr lIns="0" tIns="0" rIns="0" bIns="0" rtlCol="0" anchor="t">
            <a:spAutoFit/>
          </a:bodyPr>
          <a:lstStyle/>
          <a:p>
            <a:pPr marL="647700" lvl="1" indent="-323850" algn="just">
              <a:lnSpc>
                <a:spcPts val="4200"/>
              </a:lnSpc>
              <a:buFont typeface="Arial"/>
              <a:buChar char="•"/>
            </a:pPr>
            <a:r>
              <a:rPr lang="en-US" sz="3000" b="1">
                <a:solidFill>
                  <a:srgbClr val="1F285B"/>
                </a:solidFill>
                <a:latin typeface="Quicksand Bold"/>
                <a:ea typeface="Quicksand Bold"/>
                <a:cs typeface="Quicksand Bold"/>
                <a:sym typeface="Quicksand Bold"/>
              </a:rPr>
              <a:t>Problem :</a:t>
            </a:r>
          </a:p>
          <a:p>
            <a:pPr marL="1295400" lvl="2" indent="-431800" algn="just">
              <a:lnSpc>
                <a:spcPts val="4200"/>
              </a:lnSpc>
              <a:buFont typeface="Arial"/>
              <a:buChar char="⚬"/>
            </a:pPr>
            <a:r>
              <a:rPr lang="en-US" sz="3000">
                <a:solidFill>
                  <a:srgbClr val="1F285B"/>
                </a:solidFill>
                <a:latin typeface="Quicksand"/>
                <a:ea typeface="Quicksand"/>
                <a:cs typeface="Quicksand"/>
                <a:sym typeface="Quicksand"/>
              </a:rPr>
              <a:t>Traditional dubbing only changes the audio without adjusting lip movements</a:t>
            </a:r>
          </a:p>
          <a:p>
            <a:pPr marL="1295400" lvl="2" indent="-431800" algn="just">
              <a:lnSpc>
                <a:spcPts val="4200"/>
              </a:lnSpc>
              <a:buFont typeface="Arial"/>
              <a:buChar char="⚬"/>
            </a:pPr>
            <a:r>
              <a:rPr lang="en-US" sz="3000">
                <a:solidFill>
                  <a:srgbClr val="1F285B"/>
                </a:solidFill>
                <a:latin typeface="Quicksand"/>
                <a:ea typeface="Quicksand"/>
                <a:cs typeface="Quicksand"/>
                <a:sym typeface="Quicksand"/>
              </a:rPr>
              <a:t>Cannot correctly identify who is talking and adjust lips accordingly</a:t>
            </a:r>
          </a:p>
          <a:p>
            <a:pPr marL="1295400" lvl="2" indent="-431800" algn="just">
              <a:lnSpc>
                <a:spcPts val="4200"/>
              </a:lnSpc>
              <a:buFont typeface="Arial"/>
              <a:buChar char="⚬"/>
            </a:pPr>
            <a:r>
              <a:rPr lang="en-US" sz="3000">
                <a:solidFill>
                  <a:srgbClr val="1F285B"/>
                </a:solidFill>
                <a:latin typeface="Quicksand"/>
                <a:ea typeface="Quicksand"/>
                <a:cs typeface="Quicksand"/>
                <a:sym typeface="Quicksand"/>
              </a:rPr>
              <a:t>Fixing this manually is time-consuming and expensive</a:t>
            </a:r>
          </a:p>
          <a:p>
            <a:pPr algn="just">
              <a:lnSpc>
                <a:spcPts val="4200"/>
              </a:lnSpc>
            </a:pPr>
            <a:endParaRPr lang="en-US" sz="3000">
              <a:solidFill>
                <a:srgbClr val="1F285B"/>
              </a:solidFill>
              <a:latin typeface="Quicksand"/>
              <a:ea typeface="Quicksand"/>
              <a:cs typeface="Quicksand"/>
              <a:sym typeface="Quicksand"/>
            </a:endParaRPr>
          </a:p>
          <a:p>
            <a:pPr marL="647700" lvl="1" indent="-323850" algn="just">
              <a:lnSpc>
                <a:spcPts val="4200"/>
              </a:lnSpc>
              <a:buFont typeface="Arial"/>
              <a:buChar char="•"/>
            </a:pPr>
            <a:r>
              <a:rPr lang="en-US" sz="3000" b="1">
                <a:solidFill>
                  <a:srgbClr val="1F285B"/>
                </a:solidFill>
                <a:latin typeface="Quicksand Bold"/>
                <a:ea typeface="Quicksand Bold"/>
                <a:cs typeface="Quicksand Bold"/>
                <a:sym typeface="Quicksand Bold"/>
              </a:rPr>
              <a:t>Project Objectives :</a:t>
            </a:r>
          </a:p>
          <a:p>
            <a:pPr marL="1295400" lvl="2" indent="-431800" algn="just">
              <a:lnSpc>
                <a:spcPts val="4200"/>
              </a:lnSpc>
              <a:buFont typeface="Arial"/>
              <a:buChar char="⚬"/>
            </a:pPr>
            <a:r>
              <a:rPr lang="en-US" sz="3000">
                <a:solidFill>
                  <a:srgbClr val="1F285B"/>
                </a:solidFill>
                <a:latin typeface="Quicksand"/>
                <a:ea typeface="Quicksand"/>
                <a:cs typeface="Quicksand"/>
                <a:sym typeface="Quicksand"/>
              </a:rPr>
              <a:t>Development for film industry by synchronizes lip movements with dubbed speech</a:t>
            </a:r>
          </a:p>
          <a:p>
            <a:pPr marL="1295400" lvl="2" indent="-431800" algn="just">
              <a:lnSpc>
                <a:spcPts val="4200"/>
              </a:lnSpc>
              <a:buFont typeface="Arial"/>
              <a:buChar char="⚬"/>
            </a:pPr>
            <a:r>
              <a:rPr lang="en-US" sz="3000">
                <a:solidFill>
                  <a:srgbClr val="1F285B"/>
                </a:solidFill>
                <a:latin typeface="Quicksand"/>
                <a:ea typeface="Quicksand"/>
                <a:cs typeface="Quicksand"/>
                <a:sym typeface="Quicksand"/>
              </a:rPr>
              <a:t>Implement speaker identification, allowing the system to recognize and sync multiple people’s lips accurately</a:t>
            </a:r>
          </a:p>
          <a:p>
            <a:pPr marL="1295400" lvl="2" indent="-431800" algn="just">
              <a:lnSpc>
                <a:spcPts val="4200"/>
              </a:lnSpc>
              <a:buFont typeface="Arial"/>
              <a:buChar char="⚬"/>
            </a:pPr>
            <a:r>
              <a:rPr lang="en-US" sz="3000">
                <a:solidFill>
                  <a:srgbClr val="1F285B"/>
                </a:solidFill>
                <a:latin typeface="Quicksand"/>
                <a:ea typeface="Quicksand"/>
                <a:cs typeface="Quicksand"/>
                <a:sym typeface="Quicksand"/>
              </a:rPr>
              <a:t>Optimize to process longer videos</a:t>
            </a:r>
          </a:p>
        </p:txBody>
      </p:sp>
      <p:sp>
        <p:nvSpPr>
          <p:cNvPr id="8" name="Freeform 8"/>
          <p:cNvSpPr/>
          <p:nvPr/>
        </p:nvSpPr>
        <p:spPr>
          <a:xfrm flipV="1">
            <a:off x="16494746" y="9144445"/>
            <a:ext cx="1529108" cy="2615651"/>
          </a:xfrm>
          <a:custGeom>
            <a:avLst/>
            <a:gdLst/>
            <a:ahLst/>
            <a:cxnLst/>
            <a:rect l="l" t="t" r="r" b="b"/>
            <a:pathLst>
              <a:path w="1529108" h="2615651">
                <a:moveTo>
                  <a:pt x="0" y="2615651"/>
                </a:moveTo>
                <a:lnTo>
                  <a:pt x="1529108" y="2615651"/>
                </a:lnTo>
                <a:lnTo>
                  <a:pt x="1529108" y="0"/>
                </a:lnTo>
                <a:lnTo>
                  <a:pt x="0" y="0"/>
                </a:lnTo>
                <a:lnTo>
                  <a:pt x="0" y="2615651"/>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zh-TW" altLang="en-US"/>
          </a:p>
        </p:txBody>
      </p:sp>
      <p:grpSp>
        <p:nvGrpSpPr>
          <p:cNvPr id="9" name="Group 9"/>
          <p:cNvGrpSpPr/>
          <p:nvPr/>
        </p:nvGrpSpPr>
        <p:grpSpPr>
          <a:xfrm>
            <a:off x="5531507" y="278004"/>
            <a:ext cx="7232285" cy="1170876"/>
            <a:chOff x="0" y="0"/>
            <a:chExt cx="2574987" cy="416879"/>
          </a:xfrm>
        </p:grpSpPr>
        <p:sp>
          <p:nvSpPr>
            <p:cNvPr id="10" name="Freeform 10"/>
            <p:cNvSpPr/>
            <p:nvPr/>
          </p:nvSpPr>
          <p:spPr>
            <a:xfrm>
              <a:off x="0" y="0"/>
              <a:ext cx="2574987" cy="416879"/>
            </a:xfrm>
            <a:custGeom>
              <a:avLst/>
              <a:gdLst/>
              <a:ahLst/>
              <a:cxnLst/>
              <a:rect l="l" t="t" r="r" b="b"/>
              <a:pathLst>
                <a:path w="2574987" h="416879">
                  <a:moveTo>
                    <a:pt x="54594" y="0"/>
                  </a:moveTo>
                  <a:lnTo>
                    <a:pt x="2520393" y="0"/>
                  </a:lnTo>
                  <a:cubicBezTo>
                    <a:pt x="2534873" y="0"/>
                    <a:pt x="2548759" y="5752"/>
                    <a:pt x="2558997" y="15990"/>
                  </a:cubicBezTo>
                  <a:cubicBezTo>
                    <a:pt x="2569235" y="26228"/>
                    <a:pt x="2574987" y="40115"/>
                    <a:pt x="2574987" y="54594"/>
                  </a:cubicBezTo>
                  <a:lnTo>
                    <a:pt x="2574987" y="362286"/>
                  </a:lnTo>
                  <a:cubicBezTo>
                    <a:pt x="2574987" y="376765"/>
                    <a:pt x="2569235" y="390651"/>
                    <a:pt x="2558997" y="400889"/>
                  </a:cubicBezTo>
                  <a:cubicBezTo>
                    <a:pt x="2548759" y="411128"/>
                    <a:pt x="2534873" y="416879"/>
                    <a:pt x="2520393" y="416879"/>
                  </a:cubicBezTo>
                  <a:lnTo>
                    <a:pt x="54594" y="416879"/>
                  </a:lnTo>
                  <a:cubicBezTo>
                    <a:pt x="40115" y="416879"/>
                    <a:pt x="26228" y="411128"/>
                    <a:pt x="15990" y="400889"/>
                  </a:cubicBezTo>
                  <a:cubicBezTo>
                    <a:pt x="5752" y="390651"/>
                    <a:pt x="0" y="376765"/>
                    <a:pt x="0" y="362286"/>
                  </a:cubicBezTo>
                  <a:lnTo>
                    <a:pt x="0" y="54594"/>
                  </a:lnTo>
                  <a:cubicBezTo>
                    <a:pt x="0" y="40115"/>
                    <a:pt x="5752" y="26228"/>
                    <a:pt x="15990" y="15990"/>
                  </a:cubicBezTo>
                  <a:cubicBezTo>
                    <a:pt x="26228" y="5752"/>
                    <a:pt x="40115" y="0"/>
                    <a:pt x="54594" y="0"/>
                  </a:cubicBezTo>
                  <a:close/>
                </a:path>
              </a:pathLst>
            </a:custGeom>
            <a:solidFill>
              <a:srgbClr val="1F285B">
                <a:alpha val="89804"/>
              </a:srgbClr>
            </a:solidFill>
            <a:ln cap="rnd">
              <a:noFill/>
              <a:prstDash val="solid"/>
              <a:round/>
            </a:ln>
          </p:spPr>
          <p:txBody>
            <a:bodyPr/>
            <a:lstStyle/>
            <a:p>
              <a:endParaRPr lang="zh-TW" altLang="en-US"/>
            </a:p>
          </p:txBody>
        </p:sp>
        <p:sp>
          <p:nvSpPr>
            <p:cNvPr id="11" name="TextBox 11"/>
            <p:cNvSpPr txBox="1"/>
            <p:nvPr/>
          </p:nvSpPr>
          <p:spPr>
            <a:xfrm>
              <a:off x="0" y="-38100"/>
              <a:ext cx="2574987" cy="454979"/>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5791558" y="547975"/>
            <a:ext cx="6704883" cy="637527"/>
          </a:xfrm>
          <a:prstGeom prst="rect">
            <a:avLst/>
          </a:prstGeom>
        </p:spPr>
        <p:txBody>
          <a:bodyPr lIns="0" tIns="0" rIns="0" bIns="0" rtlCol="0" anchor="t">
            <a:spAutoFit/>
          </a:bodyPr>
          <a:lstStyle/>
          <a:p>
            <a:pPr algn="ctr">
              <a:lnSpc>
                <a:spcPts val="5178"/>
              </a:lnSpc>
            </a:pPr>
            <a:r>
              <a:rPr lang="en-US" sz="3698">
                <a:solidFill>
                  <a:srgbClr val="FFFDF9"/>
                </a:solidFill>
                <a:latin typeface="Archivo Black"/>
                <a:ea typeface="Archivo Black"/>
                <a:cs typeface="Archivo Black"/>
                <a:sym typeface="Archivo Black"/>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Freeform 2"/>
          <p:cNvSpPr/>
          <p:nvPr/>
        </p:nvSpPr>
        <p:spPr>
          <a:xfrm>
            <a:off x="78563" y="7637745"/>
            <a:ext cx="753876" cy="568834"/>
          </a:xfrm>
          <a:custGeom>
            <a:avLst/>
            <a:gdLst/>
            <a:ahLst/>
            <a:cxnLst/>
            <a:rect l="l" t="t" r="r" b="b"/>
            <a:pathLst>
              <a:path w="753876" h="568834">
                <a:moveTo>
                  <a:pt x="0" y="0"/>
                </a:moveTo>
                <a:lnTo>
                  <a:pt x="753876" y="0"/>
                </a:lnTo>
                <a:lnTo>
                  <a:pt x="753876" y="568834"/>
                </a:lnTo>
                <a:lnTo>
                  <a:pt x="0" y="5688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TW" altLang="en-US"/>
          </a:p>
        </p:txBody>
      </p:sp>
      <p:sp>
        <p:nvSpPr>
          <p:cNvPr id="3" name="Freeform 3"/>
          <p:cNvSpPr/>
          <p:nvPr/>
        </p:nvSpPr>
        <p:spPr>
          <a:xfrm>
            <a:off x="-99604" y="8370707"/>
            <a:ext cx="1864086" cy="3188655"/>
          </a:xfrm>
          <a:custGeom>
            <a:avLst/>
            <a:gdLst/>
            <a:ahLst/>
            <a:cxnLst/>
            <a:rect l="l" t="t" r="r" b="b"/>
            <a:pathLst>
              <a:path w="1864086" h="3188655">
                <a:moveTo>
                  <a:pt x="0" y="0"/>
                </a:moveTo>
                <a:lnTo>
                  <a:pt x="1864086" y="0"/>
                </a:lnTo>
                <a:lnTo>
                  <a:pt x="1864086" y="3188655"/>
                </a:lnTo>
                <a:lnTo>
                  <a:pt x="0" y="318865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TW" altLang="en-US"/>
          </a:p>
        </p:txBody>
      </p:sp>
      <p:sp>
        <p:nvSpPr>
          <p:cNvPr id="4" name="Freeform 4"/>
          <p:cNvSpPr/>
          <p:nvPr/>
        </p:nvSpPr>
        <p:spPr>
          <a:xfrm>
            <a:off x="17602138" y="8370707"/>
            <a:ext cx="842695" cy="635851"/>
          </a:xfrm>
          <a:custGeom>
            <a:avLst/>
            <a:gdLst/>
            <a:ahLst/>
            <a:cxnLst/>
            <a:rect l="l" t="t" r="r" b="b"/>
            <a:pathLst>
              <a:path w="842695" h="635851">
                <a:moveTo>
                  <a:pt x="0" y="0"/>
                </a:moveTo>
                <a:lnTo>
                  <a:pt x="842695" y="0"/>
                </a:lnTo>
                <a:lnTo>
                  <a:pt x="842695" y="635851"/>
                </a:lnTo>
                <a:lnTo>
                  <a:pt x="0" y="63585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sp>
        <p:nvSpPr>
          <p:cNvPr id="5" name="Freeform 5"/>
          <p:cNvSpPr/>
          <p:nvPr/>
        </p:nvSpPr>
        <p:spPr>
          <a:xfrm flipV="1">
            <a:off x="16494746" y="9144445"/>
            <a:ext cx="1529108" cy="2615651"/>
          </a:xfrm>
          <a:custGeom>
            <a:avLst/>
            <a:gdLst/>
            <a:ahLst/>
            <a:cxnLst/>
            <a:rect l="l" t="t" r="r" b="b"/>
            <a:pathLst>
              <a:path w="1529108" h="2615651">
                <a:moveTo>
                  <a:pt x="0" y="2615651"/>
                </a:moveTo>
                <a:lnTo>
                  <a:pt x="1529108" y="2615651"/>
                </a:lnTo>
                <a:lnTo>
                  <a:pt x="1529108" y="0"/>
                </a:lnTo>
                <a:lnTo>
                  <a:pt x="0" y="0"/>
                </a:lnTo>
                <a:lnTo>
                  <a:pt x="0" y="2615651"/>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TW" altLang="en-US"/>
          </a:p>
        </p:txBody>
      </p:sp>
      <p:grpSp>
        <p:nvGrpSpPr>
          <p:cNvPr id="6" name="Group 6"/>
          <p:cNvGrpSpPr/>
          <p:nvPr/>
        </p:nvGrpSpPr>
        <p:grpSpPr>
          <a:xfrm>
            <a:off x="5531507" y="278004"/>
            <a:ext cx="7232285" cy="1170876"/>
            <a:chOff x="0" y="0"/>
            <a:chExt cx="2574987" cy="416879"/>
          </a:xfrm>
        </p:grpSpPr>
        <p:sp>
          <p:nvSpPr>
            <p:cNvPr id="7" name="Freeform 7"/>
            <p:cNvSpPr/>
            <p:nvPr/>
          </p:nvSpPr>
          <p:spPr>
            <a:xfrm>
              <a:off x="0" y="0"/>
              <a:ext cx="2574987" cy="416879"/>
            </a:xfrm>
            <a:custGeom>
              <a:avLst/>
              <a:gdLst/>
              <a:ahLst/>
              <a:cxnLst/>
              <a:rect l="l" t="t" r="r" b="b"/>
              <a:pathLst>
                <a:path w="2574987" h="416879">
                  <a:moveTo>
                    <a:pt x="54594" y="0"/>
                  </a:moveTo>
                  <a:lnTo>
                    <a:pt x="2520393" y="0"/>
                  </a:lnTo>
                  <a:cubicBezTo>
                    <a:pt x="2534873" y="0"/>
                    <a:pt x="2548759" y="5752"/>
                    <a:pt x="2558997" y="15990"/>
                  </a:cubicBezTo>
                  <a:cubicBezTo>
                    <a:pt x="2569235" y="26228"/>
                    <a:pt x="2574987" y="40115"/>
                    <a:pt x="2574987" y="54594"/>
                  </a:cubicBezTo>
                  <a:lnTo>
                    <a:pt x="2574987" y="362286"/>
                  </a:lnTo>
                  <a:cubicBezTo>
                    <a:pt x="2574987" y="376765"/>
                    <a:pt x="2569235" y="390651"/>
                    <a:pt x="2558997" y="400889"/>
                  </a:cubicBezTo>
                  <a:cubicBezTo>
                    <a:pt x="2548759" y="411128"/>
                    <a:pt x="2534873" y="416879"/>
                    <a:pt x="2520393" y="416879"/>
                  </a:cubicBezTo>
                  <a:lnTo>
                    <a:pt x="54594" y="416879"/>
                  </a:lnTo>
                  <a:cubicBezTo>
                    <a:pt x="40115" y="416879"/>
                    <a:pt x="26228" y="411128"/>
                    <a:pt x="15990" y="400889"/>
                  </a:cubicBezTo>
                  <a:cubicBezTo>
                    <a:pt x="5752" y="390651"/>
                    <a:pt x="0" y="376765"/>
                    <a:pt x="0" y="362286"/>
                  </a:cubicBezTo>
                  <a:lnTo>
                    <a:pt x="0" y="54594"/>
                  </a:lnTo>
                  <a:cubicBezTo>
                    <a:pt x="0" y="40115"/>
                    <a:pt x="5752" y="26228"/>
                    <a:pt x="15990" y="15990"/>
                  </a:cubicBezTo>
                  <a:cubicBezTo>
                    <a:pt x="26228" y="5752"/>
                    <a:pt x="40115" y="0"/>
                    <a:pt x="54594" y="0"/>
                  </a:cubicBezTo>
                  <a:close/>
                </a:path>
              </a:pathLst>
            </a:custGeom>
            <a:solidFill>
              <a:srgbClr val="1F285B">
                <a:alpha val="89804"/>
              </a:srgbClr>
            </a:solidFill>
            <a:ln cap="rnd">
              <a:noFill/>
              <a:prstDash val="solid"/>
              <a:round/>
            </a:ln>
          </p:spPr>
          <p:txBody>
            <a:bodyPr/>
            <a:lstStyle/>
            <a:p>
              <a:endParaRPr lang="zh-TW" altLang="en-US"/>
            </a:p>
          </p:txBody>
        </p:sp>
        <p:sp>
          <p:nvSpPr>
            <p:cNvPr id="8" name="TextBox 8"/>
            <p:cNvSpPr txBox="1"/>
            <p:nvPr/>
          </p:nvSpPr>
          <p:spPr>
            <a:xfrm>
              <a:off x="0" y="-38100"/>
              <a:ext cx="2574987" cy="454979"/>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032349" y="1927395"/>
            <a:ext cx="15806461" cy="2657475"/>
          </a:xfrm>
          <a:prstGeom prst="rect">
            <a:avLst/>
          </a:prstGeom>
        </p:spPr>
        <p:txBody>
          <a:bodyPr lIns="0" tIns="0" rIns="0" bIns="0" rtlCol="0" anchor="t">
            <a:spAutoFit/>
          </a:bodyPr>
          <a:lstStyle/>
          <a:p>
            <a:pPr marL="647700" lvl="1" indent="-323850" algn="just">
              <a:lnSpc>
                <a:spcPts val="4200"/>
              </a:lnSpc>
              <a:buFont typeface="Arial"/>
              <a:buChar char="•"/>
            </a:pPr>
            <a:r>
              <a:rPr lang="en-US" sz="3000" b="1">
                <a:solidFill>
                  <a:srgbClr val="1F285B"/>
                </a:solidFill>
                <a:latin typeface="Quicksand Bold"/>
                <a:ea typeface="Quicksand Bold"/>
                <a:cs typeface="Quicksand Bold"/>
                <a:sym typeface="Quicksand Bold"/>
              </a:rPr>
              <a:t>Wav2Lip</a:t>
            </a:r>
          </a:p>
          <a:p>
            <a:pPr marL="1295400" lvl="2" indent="-431800" algn="just">
              <a:lnSpc>
                <a:spcPts val="4200"/>
              </a:lnSpc>
              <a:buFont typeface="Arial"/>
              <a:buChar char="⚬"/>
            </a:pPr>
            <a:r>
              <a:rPr lang="en-US" sz="3000">
                <a:solidFill>
                  <a:srgbClr val="1F285B"/>
                </a:solidFill>
                <a:latin typeface="Quicksand"/>
                <a:ea typeface="Quicksand"/>
                <a:cs typeface="Quicksand"/>
                <a:sym typeface="Quicksand"/>
              </a:rPr>
              <a:t>Model designed to synchronize lip movements in videos with corresponding audio that match the speech in the audio track.</a:t>
            </a:r>
          </a:p>
          <a:p>
            <a:pPr algn="just">
              <a:lnSpc>
                <a:spcPts val="4200"/>
              </a:lnSpc>
            </a:pPr>
            <a:endParaRPr lang="en-US" sz="3000">
              <a:solidFill>
                <a:srgbClr val="1F285B"/>
              </a:solidFill>
              <a:latin typeface="Quicksand"/>
              <a:ea typeface="Quicksand"/>
              <a:cs typeface="Quicksand"/>
              <a:sym typeface="Quicksand"/>
            </a:endParaRPr>
          </a:p>
          <a:p>
            <a:pPr algn="just">
              <a:lnSpc>
                <a:spcPts val="4200"/>
              </a:lnSpc>
            </a:pPr>
            <a:endParaRPr lang="en-US" sz="3000">
              <a:solidFill>
                <a:srgbClr val="1F285B"/>
              </a:solidFill>
              <a:latin typeface="Quicksand"/>
              <a:ea typeface="Quicksand"/>
              <a:cs typeface="Quicksand"/>
              <a:sym typeface="Quicksand"/>
            </a:endParaRPr>
          </a:p>
        </p:txBody>
      </p:sp>
      <p:sp>
        <p:nvSpPr>
          <p:cNvPr id="10" name="TextBox 10"/>
          <p:cNvSpPr txBox="1"/>
          <p:nvPr/>
        </p:nvSpPr>
        <p:spPr>
          <a:xfrm>
            <a:off x="5791558" y="547975"/>
            <a:ext cx="6704883" cy="637527"/>
          </a:xfrm>
          <a:prstGeom prst="rect">
            <a:avLst/>
          </a:prstGeom>
        </p:spPr>
        <p:txBody>
          <a:bodyPr lIns="0" tIns="0" rIns="0" bIns="0" rtlCol="0" anchor="t">
            <a:spAutoFit/>
          </a:bodyPr>
          <a:lstStyle/>
          <a:p>
            <a:pPr algn="ctr">
              <a:lnSpc>
                <a:spcPts val="5178"/>
              </a:lnSpc>
            </a:pPr>
            <a:r>
              <a:rPr lang="en-US" sz="3698">
                <a:solidFill>
                  <a:srgbClr val="FFFDF9"/>
                </a:solidFill>
                <a:latin typeface="Archivo Black"/>
                <a:ea typeface="Archivo Black"/>
                <a:cs typeface="Archivo Black"/>
                <a:sym typeface="Archivo Black"/>
              </a:rPr>
              <a:t>METHODOLOGY</a:t>
            </a:r>
          </a:p>
        </p:txBody>
      </p:sp>
      <p:sp>
        <p:nvSpPr>
          <p:cNvPr id="11" name="TextBox 11"/>
          <p:cNvSpPr txBox="1"/>
          <p:nvPr/>
        </p:nvSpPr>
        <p:spPr>
          <a:xfrm>
            <a:off x="1028700" y="3536198"/>
            <a:ext cx="15958168" cy="3189335"/>
          </a:xfrm>
          <a:prstGeom prst="rect">
            <a:avLst/>
          </a:prstGeom>
        </p:spPr>
        <p:txBody>
          <a:bodyPr lIns="0" tIns="0" rIns="0" bIns="0" rtlCol="0" anchor="t">
            <a:spAutoFit/>
          </a:bodyPr>
          <a:lstStyle/>
          <a:p>
            <a:pPr marL="1295400" lvl="2" indent="-431800" algn="l">
              <a:lnSpc>
                <a:spcPts val="4200"/>
              </a:lnSpc>
              <a:spcBef>
                <a:spcPct val="0"/>
              </a:spcBef>
              <a:buFont typeface="Arial"/>
              <a:buChar char="⚬"/>
            </a:pPr>
            <a:r>
              <a:rPr lang="en-US" sz="3000" dirty="0">
                <a:solidFill>
                  <a:srgbClr val="1F285B"/>
                </a:solidFill>
                <a:latin typeface="Quicksand"/>
                <a:ea typeface="Quicksand"/>
                <a:cs typeface="Quicksand"/>
                <a:sym typeface="Quicksand"/>
              </a:rPr>
              <a:t>Cons : </a:t>
            </a:r>
          </a:p>
          <a:p>
            <a:pPr marL="1943100" lvl="3" indent="-485775" algn="l">
              <a:lnSpc>
                <a:spcPts val="4200"/>
              </a:lnSpc>
              <a:spcBef>
                <a:spcPct val="0"/>
              </a:spcBef>
              <a:buFont typeface="Arial"/>
              <a:buChar char="￭"/>
            </a:pPr>
            <a:r>
              <a:rPr lang="en-US" sz="3000" dirty="0">
                <a:solidFill>
                  <a:srgbClr val="1F285B"/>
                </a:solidFill>
                <a:latin typeface="Quicksand"/>
                <a:ea typeface="Quicksand"/>
                <a:cs typeface="Quicksand"/>
                <a:sym typeface="Quicksand"/>
              </a:rPr>
              <a:t>Only support single speaker and can’t identify which speaker need to change</a:t>
            </a:r>
          </a:p>
          <a:p>
            <a:pPr marL="1943100" lvl="3" indent="-485775" algn="l">
              <a:lnSpc>
                <a:spcPts val="4200"/>
              </a:lnSpc>
              <a:spcBef>
                <a:spcPct val="0"/>
              </a:spcBef>
              <a:buFont typeface="Arial"/>
              <a:buChar char="￭"/>
            </a:pPr>
            <a:r>
              <a:rPr lang="en-US" sz="3000" dirty="0">
                <a:solidFill>
                  <a:srgbClr val="1F285B"/>
                </a:solidFill>
                <a:latin typeface="Quicksand"/>
                <a:ea typeface="Quicksand"/>
                <a:cs typeface="Quicksand"/>
                <a:sym typeface="Quicksand"/>
              </a:rPr>
              <a:t>Video frame without any speaker’s face will appear mouth shape randomly on the frame</a:t>
            </a:r>
            <a:endParaRPr lang="en-US" altLang="zh-TW" sz="3000" dirty="0">
              <a:solidFill>
                <a:srgbClr val="1F285B"/>
              </a:solidFill>
              <a:latin typeface="Quicksand"/>
              <a:ea typeface="Quicksand"/>
              <a:cs typeface="Quicksand"/>
              <a:sym typeface="Quicksand"/>
            </a:endParaRPr>
          </a:p>
          <a:p>
            <a:pPr marL="1943100" lvl="3" indent="-485775">
              <a:lnSpc>
                <a:spcPts val="4200"/>
              </a:lnSpc>
              <a:spcBef>
                <a:spcPct val="0"/>
              </a:spcBef>
              <a:buFont typeface="Arial"/>
              <a:buChar char="￭"/>
            </a:pPr>
            <a:r>
              <a:rPr lang="en-US" altLang="zh-TW" sz="3000" dirty="0">
                <a:solidFill>
                  <a:srgbClr val="1F285B"/>
                </a:solidFill>
                <a:latin typeface="Quicksand"/>
                <a:ea typeface="Quicksand"/>
                <a:cs typeface="Quicksand"/>
                <a:sym typeface="Quicksand"/>
              </a:rPr>
              <a:t>Works well for video quality lower than 720p</a:t>
            </a:r>
            <a:endParaRPr lang="en-US" sz="3000" dirty="0">
              <a:solidFill>
                <a:srgbClr val="1F285B"/>
              </a:solidFill>
              <a:latin typeface="Quicksand"/>
              <a:ea typeface="Quicksand"/>
              <a:cs typeface="Quicksand"/>
              <a:sym typeface="Quicksand"/>
            </a:endParaRPr>
          </a:p>
          <a:p>
            <a:pPr marL="1943100" lvl="3" indent="-485775" algn="l">
              <a:lnSpc>
                <a:spcPts val="4200"/>
              </a:lnSpc>
              <a:spcBef>
                <a:spcPct val="0"/>
              </a:spcBef>
              <a:buFont typeface="Arial"/>
              <a:buChar char="￭"/>
            </a:pPr>
            <a:r>
              <a:rPr lang="en-US" sz="3000" dirty="0">
                <a:solidFill>
                  <a:srgbClr val="1F285B"/>
                </a:solidFill>
                <a:latin typeface="Quicksand"/>
                <a:ea typeface="Quicksand"/>
                <a:cs typeface="Quicksand"/>
                <a:sym typeface="Quicksand"/>
              </a:rPr>
              <a:t>Not really work well for sided-face angle</a:t>
            </a:r>
          </a:p>
        </p:txBody>
      </p:sp>
      <p:sp>
        <p:nvSpPr>
          <p:cNvPr id="12" name="TextBox 12"/>
          <p:cNvSpPr txBox="1"/>
          <p:nvPr/>
        </p:nvSpPr>
        <p:spPr>
          <a:xfrm>
            <a:off x="1032349" y="7278825"/>
            <a:ext cx="15806461" cy="2124075"/>
          </a:xfrm>
          <a:prstGeom prst="rect">
            <a:avLst/>
          </a:prstGeom>
        </p:spPr>
        <p:txBody>
          <a:bodyPr lIns="0" tIns="0" rIns="0" bIns="0" rtlCol="0" anchor="t">
            <a:spAutoFit/>
          </a:bodyPr>
          <a:lstStyle/>
          <a:p>
            <a:pPr marL="647700" lvl="1" indent="-323850" algn="just">
              <a:lnSpc>
                <a:spcPts val="4200"/>
              </a:lnSpc>
              <a:buFont typeface="Arial"/>
              <a:buChar char="•"/>
            </a:pPr>
            <a:r>
              <a:rPr lang="en-US" sz="3000" b="1" dirty="0">
                <a:solidFill>
                  <a:srgbClr val="1F285B"/>
                </a:solidFill>
                <a:latin typeface="Quicksand Bold"/>
                <a:ea typeface="Quicksand Bold"/>
                <a:cs typeface="Quicksand Bold"/>
                <a:sym typeface="Quicksand Bold"/>
              </a:rPr>
              <a:t>Face-recognition</a:t>
            </a:r>
          </a:p>
          <a:p>
            <a:pPr marL="1295400" lvl="2" indent="-431800" algn="just">
              <a:lnSpc>
                <a:spcPts val="4200"/>
              </a:lnSpc>
              <a:buFont typeface="Arial"/>
              <a:buChar char="⚬"/>
            </a:pPr>
            <a:r>
              <a:rPr lang="en-US" sz="3000" dirty="0">
                <a:solidFill>
                  <a:srgbClr val="1F285B"/>
                </a:solidFill>
                <a:latin typeface="Quicksand"/>
                <a:ea typeface="Quicksand"/>
                <a:cs typeface="Quicksand"/>
                <a:sym typeface="Quicksand"/>
              </a:rPr>
              <a:t>Ensure that Wav2Lip applied to correct speaker’s face</a:t>
            </a:r>
          </a:p>
          <a:p>
            <a:pPr algn="just">
              <a:lnSpc>
                <a:spcPts val="4200"/>
              </a:lnSpc>
            </a:pPr>
            <a:endParaRPr lang="en-US" sz="3000" dirty="0">
              <a:solidFill>
                <a:srgbClr val="1F285B"/>
              </a:solidFill>
              <a:latin typeface="Quicksand"/>
              <a:ea typeface="Quicksand"/>
              <a:cs typeface="Quicksand"/>
              <a:sym typeface="Quicksand"/>
            </a:endParaRPr>
          </a:p>
          <a:p>
            <a:pPr algn="just">
              <a:lnSpc>
                <a:spcPts val="4200"/>
              </a:lnSpc>
            </a:pPr>
            <a:endParaRPr lang="en-US" sz="3000" dirty="0">
              <a:solidFill>
                <a:srgbClr val="1F285B"/>
              </a:solidFill>
              <a:latin typeface="Quicksand"/>
              <a:ea typeface="Quicksand"/>
              <a:cs typeface="Quicksand"/>
              <a:sym typeface="Quicksand"/>
            </a:endParaRPr>
          </a:p>
        </p:txBody>
      </p:sp>
      <p:sp>
        <p:nvSpPr>
          <p:cNvPr id="13" name="Freeform 13"/>
          <p:cNvSpPr/>
          <p:nvPr/>
        </p:nvSpPr>
        <p:spPr>
          <a:xfrm>
            <a:off x="5820133" y="8968458"/>
            <a:ext cx="6943659" cy="1239920"/>
          </a:xfrm>
          <a:custGeom>
            <a:avLst/>
            <a:gdLst/>
            <a:ahLst/>
            <a:cxnLst/>
            <a:rect l="l" t="t" r="r" b="b"/>
            <a:pathLst>
              <a:path w="6943659" h="1239920">
                <a:moveTo>
                  <a:pt x="0" y="0"/>
                </a:moveTo>
                <a:lnTo>
                  <a:pt x="6943659" y="0"/>
                </a:lnTo>
                <a:lnTo>
                  <a:pt x="6943659" y="1239920"/>
                </a:lnTo>
                <a:lnTo>
                  <a:pt x="0" y="1239920"/>
                </a:lnTo>
                <a:lnTo>
                  <a:pt x="0" y="0"/>
                </a:lnTo>
                <a:close/>
              </a:path>
            </a:pathLst>
          </a:custGeom>
          <a:blipFill>
            <a:blip r:embed="rId11">
              <a:extLst>
                <a:ext uri="{96DAC541-7B7A-43D3-8B79-37D633B846F1}">
                  <asvg:svgBlip xmlns:asvg="http://schemas.microsoft.com/office/drawing/2016/SVG/main" r:embed="rId12"/>
                </a:ext>
              </a:extLst>
            </a:blip>
            <a:stretch>
              <a:fillRect l="-33800" t="-429675" r="-33469"/>
            </a:stretch>
          </a:blipFill>
        </p:spPr>
        <p:txBody>
          <a:bodyPr/>
          <a:lstStyle/>
          <a:p>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Freeform 2"/>
          <p:cNvSpPr/>
          <p:nvPr/>
        </p:nvSpPr>
        <p:spPr>
          <a:xfrm>
            <a:off x="78563" y="7637745"/>
            <a:ext cx="753876" cy="568834"/>
          </a:xfrm>
          <a:custGeom>
            <a:avLst/>
            <a:gdLst/>
            <a:ahLst/>
            <a:cxnLst/>
            <a:rect l="l" t="t" r="r" b="b"/>
            <a:pathLst>
              <a:path w="753876" h="568834">
                <a:moveTo>
                  <a:pt x="0" y="0"/>
                </a:moveTo>
                <a:lnTo>
                  <a:pt x="753876" y="0"/>
                </a:lnTo>
                <a:lnTo>
                  <a:pt x="753876" y="568834"/>
                </a:lnTo>
                <a:lnTo>
                  <a:pt x="0" y="5688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99604" y="8370707"/>
            <a:ext cx="1864086" cy="3188655"/>
          </a:xfrm>
          <a:custGeom>
            <a:avLst/>
            <a:gdLst/>
            <a:ahLst/>
            <a:cxnLst/>
            <a:rect l="l" t="t" r="r" b="b"/>
            <a:pathLst>
              <a:path w="1864086" h="3188655">
                <a:moveTo>
                  <a:pt x="0" y="0"/>
                </a:moveTo>
                <a:lnTo>
                  <a:pt x="1864086" y="0"/>
                </a:lnTo>
                <a:lnTo>
                  <a:pt x="1864086" y="3188655"/>
                </a:lnTo>
                <a:lnTo>
                  <a:pt x="0" y="318865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4" name="Freeform 4"/>
          <p:cNvSpPr/>
          <p:nvPr/>
        </p:nvSpPr>
        <p:spPr>
          <a:xfrm>
            <a:off x="17602138" y="8370707"/>
            <a:ext cx="842695" cy="635851"/>
          </a:xfrm>
          <a:custGeom>
            <a:avLst/>
            <a:gdLst/>
            <a:ahLst/>
            <a:cxnLst/>
            <a:rect l="l" t="t" r="r" b="b"/>
            <a:pathLst>
              <a:path w="842695" h="635851">
                <a:moveTo>
                  <a:pt x="0" y="0"/>
                </a:moveTo>
                <a:lnTo>
                  <a:pt x="842695" y="0"/>
                </a:lnTo>
                <a:lnTo>
                  <a:pt x="842695" y="635851"/>
                </a:lnTo>
                <a:lnTo>
                  <a:pt x="0" y="6358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5" name="Freeform 5"/>
          <p:cNvSpPr/>
          <p:nvPr/>
        </p:nvSpPr>
        <p:spPr>
          <a:xfrm flipV="1">
            <a:off x="16494746" y="9144445"/>
            <a:ext cx="1529108" cy="2615651"/>
          </a:xfrm>
          <a:custGeom>
            <a:avLst/>
            <a:gdLst/>
            <a:ahLst/>
            <a:cxnLst/>
            <a:rect l="l" t="t" r="r" b="b"/>
            <a:pathLst>
              <a:path w="1529108" h="2615651">
                <a:moveTo>
                  <a:pt x="0" y="2615651"/>
                </a:moveTo>
                <a:lnTo>
                  <a:pt x="1529108" y="2615651"/>
                </a:lnTo>
                <a:lnTo>
                  <a:pt x="1529108" y="0"/>
                </a:lnTo>
                <a:lnTo>
                  <a:pt x="0" y="0"/>
                </a:lnTo>
                <a:lnTo>
                  <a:pt x="0" y="2615651"/>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6" name="TextBox 6"/>
          <p:cNvSpPr txBox="1"/>
          <p:nvPr/>
        </p:nvSpPr>
        <p:spPr>
          <a:xfrm>
            <a:off x="5791558" y="690850"/>
            <a:ext cx="6704883" cy="637527"/>
          </a:xfrm>
          <a:prstGeom prst="rect">
            <a:avLst/>
          </a:prstGeom>
        </p:spPr>
        <p:txBody>
          <a:bodyPr lIns="0" tIns="0" rIns="0" bIns="0" rtlCol="0" anchor="t">
            <a:spAutoFit/>
          </a:bodyPr>
          <a:lstStyle/>
          <a:p>
            <a:pPr algn="ctr">
              <a:lnSpc>
                <a:spcPts val="5178"/>
              </a:lnSpc>
            </a:pPr>
            <a:r>
              <a:rPr lang="en-US" sz="3698">
                <a:solidFill>
                  <a:srgbClr val="FFFDF9"/>
                </a:solidFill>
                <a:latin typeface="Archivo Black"/>
                <a:ea typeface="Archivo Black"/>
                <a:cs typeface="Archivo Black"/>
                <a:sym typeface="Archivo Black"/>
              </a:rPr>
              <a:t>METHODOLOGY</a:t>
            </a:r>
          </a:p>
        </p:txBody>
      </p:sp>
      <p:sp>
        <p:nvSpPr>
          <p:cNvPr id="7" name="TextBox 7"/>
          <p:cNvSpPr txBox="1"/>
          <p:nvPr/>
        </p:nvSpPr>
        <p:spPr>
          <a:xfrm>
            <a:off x="1028700" y="1927395"/>
            <a:ext cx="16230600" cy="7991475"/>
          </a:xfrm>
          <a:prstGeom prst="rect">
            <a:avLst/>
          </a:prstGeom>
        </p:spPr>
        <p:txBody>
          <a:bodyPr lIns="0" tIns="0" rIns="0" bIns="0" rtlCol="0" anchor="t">
            <a:spAutoFit/>
          </a:bodyPr>
          <a:lstStyle/>
          <a:p>
            <a:pPr marL="647700" lvl="1" indent="-323850" algn="just">
              <a:lnSpc>
                <a:spcPts val="4200"/>
              </a:lnSpc>
              <a:buFont typeface="Arial"/>
              <a:buChar char="•"/>
            </a:pPr>
            <a:r>
              <a:rPr lang="en-US" sz="3000" b="1" dirty="0">
                <a:solidFill>
                  <a:srgbClr val="1F285B"/>
                </a:solidFill>
                <a:latin typeface="Quicksand Bold"/>
                <a:ea typeface="Quicksand Bold"/>
                <a:cs typeface="Quicksand Bold"/>
                <a:sym typeface="Quicksand Bold"/>
              </a:rPr>
              <a:t>Faster-whisper</a:t>
            </a:r>
          </a:p>
          <a:p>
            <a:pPr marL="1295400" lvl="2" indent="-431800" algn="just">
              <a:lnSpc>
                <a:spcPts val="4200"/>
              </a:lnSpc>
              <a:buFont typeface="Arial"/>
              <a:buChar char="⚬"/>
            </a:pPr>
            <a:r>
              <a:rPr lang="en-US" sz="3000" dirty="0">
                <a:solidFill>
                  <a:srgbClr val="1F285B"/>
                </a:solidFill>
                <a:latin typeface="Quicksand"/>
                <a:ea typeface="Quicksand"/>
                <a:cs typeface="Quicksand"/>
                <a:sym typeface="Quicksand"/>
              </a:rPr>
              <a:t>Reimplementation of </a:t>
            </a:r>
            <a:r>
              <a:rPr lang="en-US" sz="3000" dirty="0" err="1">
                <a:solidFill>
                  <a:srgbClr val="1F285B"/>
                </a:solidFill>
                <a:latin typeface="Quicksand"/>
                <a:ea typeface="Quicksand"/>
                <a:cs typeface="Quicksand"/>
                <a:sym typeface="Quicksand"/>
              </a:rPr>
              <a:t>OpenAI's</a:t>
            </a:r>
            <a:r>
              <a:rPr lang="en-US" sz="3000" dirty="0">
                <a:solidFill>
                  <a:srgbClr val="1F285B"/>
                </a:solidFill>
                <a:latin typeface="Quicksand"/>
                <a:ea typeface="Quicksand"/>
                <a:cs typeface="Quicksand"/>
                <a:sym typeface="Quicksand"/>
              </a:rPr>
              <a:t> Whisper model and much faster.</a:t>
            </a:r>
          </a:p>
          <a:p>
            <a:pPr marL="1295400" lvl="2" indent="-431800" algn="just">
              <a:lnSpc>
                <a:spcPts val="4200"/>
              </a:lnSpc>
              <a:buFont typeface="Arial"/>
              <a:buChar char="⚬"/>
            </a:pPr>
            <a:r>
              <a:rPr lang="en-US" sz="3000" dirty="0">
                <a:solidFill>
                  <a:srgbClr val="1F285B"/>
                </a:solidFill>
                <a:latin typeface="Quicksand"/>
                <a:ea typeface="Quicksand"/>
                <a:cs typeface="Quicksand"/>
                <a:sym typeface="Quicksand"/>
              </a:rPr>
              <a:t>Faster-Whisper used for speech-to-text conversion of the dubbing audio. It would automatically generate the transcription of the spoken words and their timestamp, which essential for assigning speaker. </a:t>
            </a:r>
          </a:p>
          <a:p>
            <a:pPr marL="1295400" lvl="2" indent="-431800" algn="just">
              <a:lnSpc>
                <a:spcPts val="4200"/>
              </a:lnSpc>
              <a:buFont typeface="Arial"/>
              <a:buChar char="⚬"/>
            </a:pPr>
            <a:r>
              <a:rPr lang="en-US" sz="3000" dirty="0">
                <a:solidFill>
                  <a:srgbClr val="1F285B"/>
                </a:solidFill>
                <a:latin typeface="Quicksand"/>
                <a:ea typeface="Quicksand"/>
                <a:cs typeface="Quicksand"/>
                <a:sym typeface="Quicksand"/>
              </a:rPr>
              <a:t>Can handle multiple languages effectively.</a:t>
            </a:r>
          </a:p>
          <a:p>
            <a:pPr marL="1295400" lvl="2" indent="-431800" algn="just">
              <a:lnSpc>
                <a:spcPts val="4200"/>
              </a:lnSpc>
              <a:buFont typeface="Arial"/>
              <a:buChar char="⚬"/>
            </a:pPr>
            <a:r>
              <a:rPr lang="en-US" sz="3000" dirty="0">
                <a:solidFill>
                  <a:srgbClr val="1F285B"/>
                </a:solidFill>
                <a:latin typeface="Quicksand"/>
                <a:ea typeface="Quicksand"/>
                <a:cs typeface="Quicksand"/>
                <a:sym typeface="Quicksand"/>
              </a:rPr>
              <a:t>Cons : Didn’t support speaker </a:t>
            </a:r>
            <a:r>
              <a:rPr lang="en-US" sz="3000" dirty="0" err="1">
                <a:solidFill>
                  <a:srgbClr val="1F285B"/>
                </a:solidFill>
                <a:latin typeface="Quicksand"/>
                <a:ea typeface="Quicksand"/>
                <a:cs typeface="Quicksand"/>
                <a:sym typeface="Quicksand"/>
              </a:rPr>
              <a:t>diarization</a:t>
            </a:r>
            <a:r>
              <a:rPr lang="en-US" sz="3000" dirty="0">
                <a:solidFill>
                  <a:srgbClr val="1F285B"/>
                </a:solidFill>
                <a:latin typeface="Quicksand"/>
                <a:ea typeface="Quicksand"/>
                <a:cs typeface="Quicksand"/>
                <a:sym typeface="Quicksand"/>
              </a:rPr>
              <a:t>.</a:t>
            </a:r>
          </a:p>
          <a:p>
            <a:pPr algn="just">
              <a:lnSpc>
                <a:spcPts val="4200"/>
              </a:lnSpc>
            </a:pPr>
            <a:endParaRPr lang="en-US" sz="3000" dirty="0">
              <a:solidFill>
                <a:srgbClr val="1F285B"/>
              </a:solidFill>
              <a:latin typeface="Quicksand"/>
              <a:ea typeface="Quicksand"/>
              <a:cs typeface="Quicksand"/>
              <a:sym typeface="Quicksand"/>
            </a:endParaRPr>
          </a:p>
          <a:p>
            <a:pPr marL="647700" lvl="1" indent="-323850" algn="just">
              <a:lnSpc>
                <a:spcPts val="4200"/>
              </a:lnSpc>
              <a:buFont typeface="Arial"/>
              <a:buChar char="•"/>
            </a:pPr>
            <a:r>
              <a:rPr lang="en-US" sz="3000" b="1" dirty="0" err="1">
                <a:solidFill>
                  <a:srgbClr val="1F285B"/>
                </a:solidFill>
                <a:latin typeface="Quicksand Bold"/>
                <a:ea typeface="Quicksand Bold"/>
                <a:cs typeface="Quicksand Bold"/>
                <a:sym typeface="Quicksand Bold"/>
              </a:rPr>
              <a:t>NeMo</a:t>
            </a:r>
            <a:r>
              <a:rPr lang="en-US" sz="3000" b="1" dirty="0">
                <a:solidFill>
                  <a:srgbClr val="1F285B"/>
                </a:solidFill>
                <a:latin typeface="Quicksand Bold"/>
                <a:ea typeface="Quicksand Bold"/>
                <a:cs typeface="Quicksand Bold"/>
                <a:sym typeface="Quicksand Bold"/>
              </a:rPr>
              <a:t> 2.0 (NVIDIA Neural Modules)</a:t>
            </a:r>
          </a:p>
          <a:p>
            <a:pPr marL="1295400" lvl="2" indent="-431800" algn="just">
              <a:lnSpc>
                <a:spcPts val="4200"/>
              </a:lnSpc>
              <a:buFont typeface="Arial"/>
              <a:buChar char="⚬"/>
            </a:pPr>
            <a:r>
              <a:rPr lang="en-US" sz="3000" dirty="0">
                <a:solidFill>
                  <a:srgbClr val="1F285B"/>
                </a:solidFill>
                <a:latin typeface="Quicksand"/>
                <a:ea typeface="Quicksand"/>
                <a:cs typeface="Quicksand"/>
                <a:sym typeface="Quicksand"/>
              </a:rPr>
              <a:t>Provide ASR (Automatic Speech recognition) and TTS (Text To Speech).</a:t>
            </a:r>
          </a:p>
          <a:p>
            <a:pPr marL="1295400" lvl="2" indent="-431800" algn="just">
              <a:lnSpc>
                <a:spcPts val="4200"/>
              </a:lnSpc>
              <a:buFont typeface="Arial"/>
              <a:buChar char="⚬"/>
            </a:pPr>
            <a:r>
              <a:rPr lang="en-US" sz="3000" dirty="0">
                <a:solidFill>
                  <a:srgbClr val="1F285B"/>
                </a:solidFill>
                <a:latin typeface="Quicksand"/>
                <a:ea typeface="Quicksand"/>
                <a:cs typeface="Quicksand"/>
                <a:sym typeface="Quicksand"/>
              </a:rPr>
              <a:t>Speaker </a:t>
            </a:r>
            <a:r>
              <a:rPr lang="en-US" sz="3000" dirty="0" err="1">
                <a:solidFill>
                  <a:srgbClr val="1F285B"/>
                </a:solidFill>
                <a:latin typeface="Quicksand"/>
                <a:ea typeface="Quicksand"/>
                <a:cs typeface="Quicksand"/>
                <a:sym typeface="Quicksand"/>
              </a:rPr>
              <a:t>Diarization</a:t>
            </a:r>
            <a:r>
              <a:rPr lang="en-US" sz="3000" dirty="0">
                <a:solidFill>
                  <a:srgbClr val="1F285B"/>
                </a:solidFill>
                <a:latin typeface="Quicksand"/>
                <a:ea typeface="Quicksand"/>
                <a:cs typeface="Quicksand"/>
                <a:sym typeface="Quicksand"/>
              </a:rPr>
              <a:t> to identify and label different speaker with their speech based on their distinguish voices. </a:t>
            </a:r>
          </a:p>
          <a:p>
            <a:pPr marL="1295400" lvl="2" indent="-431800" algn="just">
              <a:lnSpc>
                <a:spcPts val="4200"/>
              </a:lnSpc>
              <a:buFont typeface="Arial"/>
              <a:buChar char="⚬"/>
            </a:pPr>
            <a:r>
              <a:rPr lang="en-US" sz="3000" dirty="0">
                <a:solidFill>
                  <a:srgbClr val="1F285B"/>
                </a:solidFill>
                <a:latin typeface="Quicksand"/>
                <a:ea typeface="Quicksand"/>
                <a:cs typeface="Quicksand"/>
                <a:sym typeface="Quicksand"/>
              </a:rPr>
              <a:t>Cons :  Required more efforts to do customization and slower than faster-whisper</a:t>
            </a:r>
          </a:p>
          <a:p>
            <a:pPr algn="just">
              <a:lnSpc>
                <a:spcPts val="4200"/>
              </a:lnSpc>
            </a:pPr>
            <a:endParaRPr lang="en-US" sz="3000" dirty="0">
              <a:solidFill>
                <a:srgbClr val="1F285B"/>
              </a:solidFill>
              <a:latin typeface="Quicksand"/>
              <a:ea typeface="Quicksand"/>
              <a:cs typeface="Quicksand"/>
              <a:sym typeface="Quicksand"/>
            </a:endParaRPr>
          </a:p>
          <a:p>
            <a:pPr algn="just">
              <a:lnSpc>
                <a:spcPts val="4200"/>
              </a:lnSpc>
            </a:pPr>
            <a:endParaRPr lang="en-US" sz="3000" dirty="0">
              <a:solidFill>
                <a:srgbClr val="1F285B"/>
              </a:solidFill>
              <a:latin typeface="Quicksand"/>
              <a:ea typeface="Quicksand"/>
              <a:cs typeface="Quicksand"/>
              <a:sym typeface="Quicksand"/>
            </a:endParaRPr>
          </a:p>
        </p:txBody>
      </p:sp>
      <p:grpSp>
        <p:nvGrpSpPr>
          <p:cNvPr id="8" name="Group 8"/>
          <p:cNvGrpSpPr/>
          <p:nvPr/>
        </p:nvGrpSpPr>
        <p:grpSpPr>
          <a:xfrm>
            <a:off x="5531507" y="278004"/>
            <a:ext cx="7232285" cy="1170876"/>
            <a:chOff x="0" y="0"/>
            <a:chExt cx="2574987" cy="416879"/>
          </a:xfrm>
        </p:grpSpPr>
        <p:sp>
          <p:nvSpPr>
            <p:cNvPr id="9" name="Freeform 9"/>
            <p:cNvSpPr/>
            <p:nvPr/>
          </p:nvSpPr>
          <p:spPr>
            <a:xfrm>
              <a:off x="0" y="0"/>
              <a:ext cx="2574987" cy="416879"/>
            </a:xfrm>
            <a:custGeom>
              <a:avLst/>
              <a:gdLst/>
              <a:ahLst/>
              <a:cxnLst/>
              <a:rect l="l" t="t" r="r" b="b"/>
              <a:pathLst>
                <a:path w="2574987" h="416879">
                  <a:moveTo>
                    <a:pt x="54594" y="0"/>
                  </a:moveTo>
                  <a:lnTo>
                    <a:pt x="2520393" y="0"/>
                  </a:lnTo>
                  <a:cubicBezTo>
                    <a:pt x="2534873" y="0"/>
                    <a:pt x="2548759" y="5752"/>
                    <a:pt x="2558997" y="15990"/>
                  </a:cubicBezTo>
                  <a:cubicBezTo>
                    <a:pt x="2569235" y="26228"/>
                    <a:pt x="2574987" y="40115"/>
                    <a:pt x="2574987" y="54594"/>
                  </a:cubicBezTo>
                  <a:lnTo>
                    <a:pt x="2574987" y="362286"/>
                  </a:lnTo>
                  <a:cubicBezTo>
                    <a:pt x="2574987" y="376765"/>
                    <a:pt x="2569235" y="390651"/>
                    <a:pt x="2558997" y="400889"/>
                  </a:cubicBezTo>
                  <a:cubicBezTo>
                    <a:pt x="2548759" y="411128"/>
                    <a:pt x="2534873" y="416879"/>
                    <a:pt x="2520393" y="416879"/>
                  </a:cubicBezTo>
                  <a:lnTo>
                    <a:pt x="54594" y="416879"/>
                  </a:lnTo>
                  <a:cubicBezTo>
                    <a:pt x="40115" y="416879"/>
                    <a:pt x="26228" y="411128"/>
                    <a:pt x="15990" y="400889"/>
                  </a:cubicBezTo>
                  <a:cubicBezTo>
                    <a:pt x="5752" y="390651"/>
                    <a:pt x="0" y="376765"/>
                    <a:pt x="0" y="362286"/>
                  </a:cubicBezTo>
                  <a:lnTo>
                    <a:pt x="0" y="54594"/>
                  </a:lnTo>
                  <a:cubicBezTo>
                    <a:pt x="0" y="40115"/>
                    <a:pt x="5752" y="26228"/>
                    <a:pt x="15990" y="15990"/>
                  </a:cubicBezTo>
                  <a:cubicBezTo>
                    <a:pt x="26228" y="5752"/>
                    <a:pt x="40115" y="0"/>
                    <a:pt x="54594" y="0"/>
                  </a:cubicBezTo>
                  <a:close/>
                </a:path>
              </a:pathLst>
            </a:custGeom>
            <a:solidFill>
              <a:srgbClr val="1F285B">
                <a:alpha val="89804"/>
              </a:srgbClr>
            </a:solidFill>
            <a:ln cap="rnd">
              <a:noFill/>
              <a:prstDash val="solid"/>
              <a:round/>
            </a:ln>
          </p:spPr>
          <p:txBody>
            <a:bodyPr/>
            <a:lstStyle/>
            <a:p>
              <a:endParaRPr lang="zh-TW" altLang="en-US"/>
            </a:p>
          </p:txBody>
        </p:sp>
        <p:sp>
          <p:nvSpPr>
            <p:cNvPr id="10" name="TextBox 10"/>
            <p:cNvSpPr txBox="1"/>
            <p:nvPr/>
          </p:nvSpPr>
          <p:spPr>
            <a:xfrm>
              <a:off x="0" y="-38100"/>
              <a:ext cx="2574987" cy="454979"/>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5791558" y="547975"/>
            <a:ext cx="6704883" cy="637527"/>
          </a:xfrm>
          <a:prstGeom prst="rect">
            <a:avLst/>
          </a:prstGeom>
        </p:spPr>
        <p:txBody>
          <a:bodyPr lIns="0" tIns="0" rIns="0" bIns="0" rtlCol="0" anchor="t">
            <a:spAutoFit/>
          </a:bodyPr>
          <a:lstStyle/>
          <a:p>
            <a:pPr algn="ctr">
              <a:lnSpc>
                <a:spcPts val="5178"/>
              </a:lnSpc>
            </a:pPr>
            <a:r>
              <a:rPr lang="en-US" sz="3698">
                <a:solidFill>
                  <a:srgbClr val="FFFDF9"/>
                </a:solidFill>
                <a:latin typeface="Archivo Black"/>
                <a:ea typeface="Archivo Black"/>
                <a:cs typeface="Archivo Black"/>
                <a:sym typeface="Archivo Black"/>
              </a:rPr>
              <a:t>METHODOLOGY</a:t>
            </a:r>
          </a:p>
        </p:txBody>
      </p:sp>
      <p:sp>
        <p:nvSpPr>
          <p:cNvPr id="12" name="Freeform 12"/>
          <p:cNvSpPr/>
          <p:nvPr/>
        </p:nvSpPr>
        <p:spPr>
          <a:xfrm>
            <a:off x="5820133" y="8968458"/>
            <a:ext cx="6943659" cy="1239920"/>
          </a:xfrm>
          <a:custGeom>
            <a:avLst/>
            <a:gdLst/>
            <a:ahLst/>
            <a:cxnLst/>
            <a:rect l="l" t="t" r="r" b="b"/>
            <a:pathLst>
              <a:path w="6943659" h="1239920">
                <a:moveTo>
                  <a:pt x="0" y="0"/>
                </a:moveTo>
                <a:lnTo>
                  <a:pt x="6943659" y="0"/>
                </a:lnTo>
                <a:lnTo>
                  <a:pt x="6943659" y="1239920"/>
                </a:lnTo>
                <a:lnTo>
                  <a:pt x="0" y="1239920"/>
                </a:lnTo>
                <a:lnTo>
                  <a:pt x="0" y="0"/>
                </a:lnTo>
                <a:close/>
              </a:path>
            </a:pathLst>
          </a:custGeom>
          <a:blipFill>
            <a:blip r:embed="rId10">
              <a:extLst>
                <a:ext uri="{96DAC541-7B7A-43D3-8B79-37D633B846F1}">
                  <asvg:svgBlip xmlns:asvg="http://schemas.microsoft.com/office/drawing/2016/SVG/main" r:embed="rId11"/>
                </a:ext>
              </a:extLst>
            </a:blip>
            <a:stretch>
              <a:fillRect l="-33800" t="-429675" r="-33469"/>
            </a:stretch>
          </a:blipFill>
        </p:spPr>
        <p:txBody>
          <a:bodyPr/>
          <a:lstStyle/>
          <a:p>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Freeform 2"/>
          <p:cNvSpPr/>
          <p:nvPr/>
        </p:nvSpPr>
        <p:spPr>
          <a:xfrm>
            <a:off x="10067583" y="4534544"/>
            <a:ext cx="2648239" cy="4352323"/>
          </a:xfrm>
          <a:custGeom>
            <a:avLst/>
            <a:gdLst/>
            <a:ahLst/>
            <a:cxnLst/>
            <a:rect l="l" t="t" r="r" b="b"/>
            <a:pathLst>
              <a:path w="2648239" h="4352323">
                <a:moveTo>
                  <a:pt x="0" y="0"/>
                </a:moveTo>
                <a:lnTo>
                  <a:pt x="2648239" y="0"/>
                </a:lnTo>
                <a:lnTo>
                  <a:pt x="2648239" y="4352324"/>
                </a:lnTo>
                <a:lnTo>
                  <a:pt x="0" y="4352324"/>
                </a:lnTo>
                <a:lnTo>
                  <a:pt x="0" y="0"/>
                </a:lnTo>
                <a:close/>
              </a:path>
            </a:pathLst>
          </a:custGeom>
          <a:blipFill>
            <a:blip r:embed="rId2"/>
            <a:stretch>
              <a:fillRect/>
            </a:stretch>
          </a:blipFill>
        </p:spPr>
        <p:txBody>
          <a:bodyPr/>
          <a:lstStyle/>
          <a:p>
            <a:endParaRPr lang="zh-TW" altLang="en-US"/>
          </a:p>
        </p:txBody>
      </p:sp>
      <p:sp>
        <p:nvSpPr>
          <p:cNvPr id="3" name="Freeform 3"/>
          <p:cNvSpPr/>
          <p:nvPr/>
        </p:nvSpPr>
        <p:spPr>
          <a:xfrm>
            <a:off x="593978" y="5753797"/>
            <a:ext cx="4612708" cy="2934835"/>
          </a:xfrm>
          <a:custGeom>
            <a:avLst/>
            <a:gdLst/>
            <a:ahLst/>
            <a:cxnLst/>
            <a:rect l="l" t="t" r="r" b="b"/>
            <a:pathLst>
              <a:path w="4612708" h="2934835">
                <a:moveTo>
                  <a:pt x="0" y="0"/>
                </a:moveTo>
                <a:lnTo>
                  <a:pt x="4612708" y="0"/>
                </a:lnTo>
                <a:lnTo>
                  <a:pt x="4612708" y="2934836"/>
                </a:lnTo>
                <a:lnTo>
                  <a:pt x="0" y="2934836"/>
                </a:lnTo>
                <a:lnTo>
                  <a:pt x="0" y="0"/>
                </a:lnTo>
                <a:close/>
              </a:path>
            </a:pathLst>
          </a:custGeom>
          <a:blipFill>
            <a:blip r:embed="rId3"/>
            <a:stretch>
              <a:fillRect/>
            </a:stretch>
          </a:blipFill>
        </p:spPr>
        <p:txBody>
          <a:bodyPr/>
          <a:lstStyle/>
          <a:p>
            <a:endParaRPr lang="zh-TW" altLang="en-US"/>
          </a:p>
        </p:txBody>
      </p:sp>
      <p:sp>
        <p:nvSpPr>
          <p:cNvPr id="4" name="Freeform 4"/>
          <p:cNvSpPr/>
          <p:nvPr/>
        </p:nvSpPr>
        <p:spPr>
          <a:xfrm>
            <a:off x="6134333" y="4524767"/>
            <a:ext cx="2658524" cy="4375368"/>
          </a:xfrm>
          <a:custGeom>
            <a:avLst/>
            <a:gdLst/>
            <a:ahLst/>
            <a:cxnLst/>
            <a:rect l="l" t="t" r="r" b="b"/>
            <a:pathLst>
              <a:path w="2658524" h="4375368">
                <a:moveTo>
                  <a:pt x="0" y="0"/>
                </a:moveTo>
                <a:lnTo>
                  <a:pt x="2658524" y="0"/>
                </a:lnTo>
                <a:lnTo>
                  <a:pt x="2658524" y="4375368"/>
                </a:lnTo>
                <a:lnTo>
                  <a:pt x="0" y="4375368"/>
                </a:lnTo>
                <a:lnTo>
                  <a:pt x="0" y="0"/>
                </a:lnTo>
                <a:close/>
              </a:path>
            </a:pathLst>
          </a:custGeom>
          <a:blipFill>
            <a:blip r:embed="rId4"/>
            <a:stretch>
              <a:fillRect/>
            </a:stretch>
          </a:blipFill>
        </p:spPr>
        <p:txBody>
          <a:bodyPr/>
          <a:lstStyle/>
          <a:p>
            <a:endParaRPr lang="zh-TW" altLang="en-US"/>
          </a:p>
        </p:txBody>
      </p:sp>
      <p:grpSp>
        <p:nvGrpSpPr>
          <p:cNvPr id="5" name="Group 5"/>
          <p:cNvGrpSpPr/>
          <p:nvPr/>
        </p:nvGrpSpPr>
        <p:grpSpPr>
          <a:xfrm>
            <a:off x="6057987" y="4456169"/>
            <a:ext cx="2788237" cy="1418143"/>
            <a:chOff x="0" y="0"/>
            <a:chExt cx="439817" cy="223698"/>
          </a:xfrm>
        </p:grpSpPr>
        <p:sp>
          <p:nvSpPr>
            <p:cNvPr id="6" name="Freeform 6"/>
            <p:cNvSpPr/>
            <p:nvPr/>
          </p:nvSpPr>
          <p:spPr>
            <a:xfrm>
              <a:off x="0" y="0"/>
              <a:ext cx="439817" cy="223698"/>
            </a:xfrm>
            <a:custGeom>
              <a:avLst/>
              <a:gdLst/>
              <a:ahLst/>
              <a:cxnLst/>
              <a:rect l="l" t="t" r="r" b="b"/>
              <a:pathLst>
                <a:path w="439817" h="223698">
                  <a:moveTo>
                    <a:pt x="0" y="0"/>
                  </a:moveTo>
                  <a:lnTo>
                    <a:pt x="439817" y="0"/>
                  </a:lnTo>
                  <a:lnTo>
                    <a:pt x="439817" y="223698"/>
                  </a:lnTo>
                  <a:lnTo>
                    <a:pt x="0" y="223698"/>
                  </a:lnTo>
                  <a:close/>
                </a:path>
              </a:pathLst>
            </a:custGeom>
            <a:solidFill>
              <a:srgbClr val="000000">
                <a:alpha val="0"/>
              </a:srgbClr>
            </a:solidFill>
            <a:ln w="28575" cap="sq">
              <a:solidFill>
                <a:srgbClr val="E65757"/>
              </a:solidFill>
              <a:prstDash val="solid"/>
              <a:miter/>
            </a:ln>
          </p:spPr>
          <p:txBody>
            <a:bodyPr/>
            <a:lstStyle/>
            <a:p>
              <a:endParaRPr lang="zh-TW" altLang="en-US"/>
            </a:p>
          </p:txBody>
        </p:sp>
        <p:sp>
          <p:nvSpPr>
            <p:cNvPr id="7" name="TextBox 7"/>
            <p:cNvSpPr txBox="1"/>
            <p:nvPr/>
          </p:nvSpPr>
          <p:spPr>
            <a:xfrm>
              <a:off x="0" y="85725"/>
              <a:ext cx="439817" cy="137973"/>
            </a:xfrm>
            <a:prstGeom prst="rect">
              <a:avLst/>
            </a:prstGeom>
          </p:spPr>
          <p:txBody>
            <a:bodyPr lIns="39317" tIns="39317" rIns="39317" bIns="39317" rtlCol="0" anchor="ctr"/>
            <a:lstStyle/>
            <a:p>
              <a:pPr algn="ctr">
                <a:lnSpc>
                  <a:spcPts val="4703"/>
                </a:lnSpc>
              </a:pPr>
              <a:endParaRPr/>
            </a:p>
          </p:txBody>
        </p:sp>
      </p:grpSp>
      <p:grpSp>
        <p:nvGrpSpPr>
          <p:cNvPr id="8" name="Group 8"/>
          <p:cNvGrpSpPr/>
          <p:nvPr/>
        </p:nvGrpSpPr>
        <p:grpSpPr>
          <a:xfrm>
            <a:off x="6057987" y="5928523"/>
            <a:ext cx="2788237" cy="1083313"/>
            <a:chOff x="0" y="0"/>
            <a:chExt cx="439817" cy="170882"/>
          </a:xfrm>
        </p:grpSpPr>
        <p:sp>
          <p:nvSpPr>
            <p:cNvPr id="9" name="Freeform 9"/>
            <p:cNvSpPr/>
            <p:nvPr/>
          </p:nvSpPr>
          <p:spPr>
            <a:xfrm>
              <a:off x="0" y="0"/>
              <a:ext cx="439817" cy="170882"/>
            </a:xfrm>
            <a:custGeom>
              <a:avLst/>
              <a:gdLst/>
              <a:ahLst/>
              <a:cxnLst/>
              <a:rect l="l" t="t" r="r" b="b"/>
              <a:pathLst>
                <a:path w="439817" h="170882">
                  <a:moveTo>
                    <a:pt x="0" y="0"/>
                  </a:moveTo>
                  <a:lnTo>
                    <a:pt x="439817" y="0"/>
                  </a:lnTo>
                  <a:lnTo>
                    <a:pt x="439817" y="170882"/>
                  </a:lnTo>
                  <a:lnTo>
                    <a:pt x="0" y="170882"/>
                  </a:lnTo>
                  <a:close/>
                </a:path>
              </a:pathLst>
            </a:custGeom>
            <a:solidFill>
              <a:srgbClr val="000000">
                <a:alpha val="0"/>
              </a:srgbClr>
            </a:solidFill>
            <a:ln w="28575" cap="sq">
              <a:solidFill>
                <a:srgbClr val="E65757"/>
              </a:solidFill>
              <a:prstDash val="solid"/>
              <a:miter/>
            </a:ln>
          </p:spPr>
          <p:txBody>
            <a:bodyPr/>
            <a:lstStyle/>
            <a:p>
              <a:endParaRPr lang="zh-TW" altLang="en-US"/>
            </a:p>
          </p:txBody>
        </p:sp>
        <p:sp>
          <p:nvSpPr>
            <p:cNvPr id="10" name="TextBox 10"/>
            <p:cNvSpPr txBox="1"/>
            <p:nvPr/>
          </p:nvSpPr>
          <p:spPr>
            <a:xfrm>
              <a:off x="0" y="85725"/>
              <a:ext cx="439817" cy="85157"/>
            </a:xfrm>
            <a:prstGeom prst="rect">
              <a:avLst/>
            </a:prstGeom>
          </p:spPr>
          <p:txBody>
            <a:bodyPr lIns="39317" tIns="39317" rIns="39317" bIns="39317" rtlCol="0" anchor="ctr"/>
            <a:lstStyle/>
            <a:p>
              <a:pPr algn="ctr">
                <a:lnSpc>
                  <a:spcPts val="4703"/>
                </a:lnSpc>
              </a:pPr>
              <a:endParaRPr/>
            </a:p>
          </p:txBody>
        </p:sp>
      </p:grpSp>
      <p:grpSp>
        <p:nvGrpSpPr>
          <p:cNvPr id="11" name="Group 11"/>
          <p:cNvGrpSpPr/>
          <p:nvPr/>
        </p:nvGrpSpPr>
        <p:grpSpPr>
          <a:xfrm>
            <a:off x="6069477" y="7065390"/>
            <a:ext cx="2788237" cy="1496553"/>
            <a:chOff x="0" y="0"/>
            <a:chExt cx="439817" cy="236066"/>
          </a:xfrm>
        </p:grpSpPr>
        <p:sp>
          <p:nvSpPr>
            <p:cNvPr id="12" name="Freeform 12"/>
            <p:cNvSpPr/>
            <p:nvPr/>
          </p:nvSpPr>
          <p:spPr>
            <a:xfrm>
              <a:off x="0" y="0"/>
              <a:ext cx="439817" cy="236067"/>
            </a:xfrm>
            <a:custGeom>
              <a:avLst/>
              <a:gdLst/>
              <a:ahLst/>
              <a:cxnLst/>
              <a:rect l="l" t="t" r="r" b="b"/>
              <a:pathLst>
                <a:path w="439817" h="236067">
                  <a:moveTo>
                    <a:pt x="0" y="0"/>
                  </a:moveTo>
                  <a:lnTo>
                    <a:pt x="439817" y="0"/>
                  </a:lnTo>
                  <a:lnTo>
                    <a:pt x="439817" y="236067"/>
                  </a:lnTo>
                  <a:lnTo>
                    <a:pt x="0" y="236067"/>
                  </a:lnTo>
                  <a:close/>
                </a:path>
              </a:pathLst>
            </a:custGeom>
            <a:solidFill>
              <a:srgbClr val="000000">
                <a:alpha val="0"/>
              </a:srgbClr>
            </a:solidFill>
            <a:ln w="28575" cap="sq">
              <a:solidFill>
                <a:srgbClr val="E65757"/>
              </a:solidFill>
              <a:prstDash val="solid"/>
              <a:miter/>
            </a:ln>
          </p:spPr>
          <p:txBody>
            <a:bodyPr/>
            <a:lstStyle/>
            <a:p>
              <a:endParaRPr lang="zh-TW" altLang="en-US"/>
            </a:p>
          </p:txBody>
        </p:sp>
        <p:sp>
          <p:nvSpPr>
            <p:cNvPr id="13" name="TextBox 13"/>
            <p:cNvSpPr txBox="1"/>
            <p:nvPr/>
          </p:nvSpPr>
          <p:spPr>
            <a:xfrm>
              <a:off x="0" y="85725"/>
              <a:ext cx="439817" cy="150341"/>
            </a:xfrm>
            <a:prstGeom prst="rect">
              <a:avLst/>
            </a:prstGeom>
          </p:spPr>
          <p:txBody>
            <a:bodyPr lIns="39317" tIns="39317" rIns="39317" bIns="39317" rtlCol="0" anchor="ctr"/>
            <a:lstStyle/>
            <a:p>
              <a:pPr algn="ctr">
                <a:lnSpc>
                  <a:spcPts val="4703"/>
                </a:lnSpc>
              </a:pPr>
              <a:endParaRPr/>
            </a:p>
          </p:txBody>
        </p:sp>
      </p:grpSp>
      <p:sp>
        <p:nvSpPr>
          <p:cNvPr id="14" name="TextBox 14"/>
          <p:cNvSpPr txBox="1"/>
          <p:nvPr/>
        </p:nvSpPr>
        <p:spPr>
          <a:xfrm>
            <a:off x="5697554" y="8514318"/>
            <a:ext cx="403874" cy="381792"/>
          </a:xfrm>
          <a:prstGeom prst="rect">
            <a:avLst/>
          </a:prstGeom>
        </p:spPr>
        <p:txBody>
          <a:bodyPr lIns="0" tIns="0" rIns="0" bIns="0" rtlCol="0" anchor="t">
            <a:spAutoFit/>
          </a:bodyPr>
          <a:lstStyle/>
          <a:p>
            <a:pPr algn="just">
              <a:lnSpc>
                <a:spcPts val="3106"/>
              </a:lnSpc>
              <a:spcBef>
                <a:spcPct val="0"/>
              </a:spcBef>
            </a:pPr>
            <a:r>
              <a:rPr lang="en-US" sz="2218">
                <a:solidFill>
                  <a:srgbClr val="000000"/>
                </a:solidFill>
                <a:latin typeface="Quicksand"/>
                <a:ea typeface="Quicksand"/>
                <a:cs typeface="Quicksand"/>
                <a:sym typeface="Quicksand"/>
              </a:rPr>
              <a:t>(4)</a:t>
            </a:r>
          </a:p>
        </p:txBody>
      </p:sp>
      <p:grpSp>
        <p:nvGrpSpPr>
          <p:cNvPr id="15" name="Group 15"/>
          <p:cNvGrpSpPr/>
          <p:nvPr/>
        </p:nvGrpSpPr>
        <p:grpSpPr>
          <a:xfrm>
            <a:off x="6069477" y="8577211"/>
            <a:ext cx="2788237" cy="386417"/>
            <a:chOff x="0" y="0"/>
            <a:chExt cx="439817" cy="60953"/>
          </a:xfrm>
        </p:grpSpPr>
        <p:sp>
          <p:nvSpPr>
            <p:cNvPr id="16" name="Freeform 16"/>
            <p:cNvSpPr/>
            <p:nvPr/>
          </p:nvSpPr>
          <p:spPr>
            <a:xfrm>
              <a:off x="0" y="0"/>
              <a:ext cx="439817" cy="60953"/>
            </a:xfrm>
            <a:custGeom>
              <a:avLst/>
              <a:gdLst/>
              <a:ahLst/>
              <a:cxnLst/>
              <a:rect l="l" t="t" r="r" b="b"/>
              <a:pathLst>
                <a:path w="439817" h="60953">
                  <a:moveTo>
                    <a:pt x="0" y="0"/>
                  </a:moveTo>
                  <a:lnTo>
                    <a:pt x="439817" y="0"/>
                  </a:lnTo>
                  <a:lnTo>
                    <a:pt x="439817" y="60953"/>
                  </a:lnTo>
                  <a:lnTo>
                    <a:pt x="0" y="60953"/>
                  </a:lnTo>
                  <a:close/>
                </a:path>
              </a:pathLst>
            </a:custGeom>
            <a:solidFill>
              <a:srgbClr val="000000">
                <a:alpha val="0"/>
              </a:srgbClr>
            </a:solidFill>
            <a:ln w="28575" cap="sq">
              <a:solidFill>
                <a:srgbClr val="E65757"/>
              </a:solidFill>
              <a:prstDash val="solid"/>
              <a:miter/>
            </a:ln>
          </p:spPr>
          <p:txBody>
            <a:bodyPr/>
            <a:lstStyle/>
            <a:p>
              <a:endParaRPr lang="zh-TW" altLang="en-US"/>
            </a:p>
          </p:txBody>
        </p:sp>
        <p:sp>
          <p:nvSpPr>
            <p:cNvPr id="17" name="TextBox 17"/>
            <p:cNvSpPr txBox="1"/>
            <p:nvPr/>
          </p:nvSpPr>
          <p:spPr>
            <a:xfrm>
              <a:off x="0" y="85725"/>
              <a:ext cx="439817" cy="60953"/>
            </a:xfrm>
            <a:prstGeom prst="rect">
              <a:avLst/>
            </a:prstGeom>
          </p:spPr>
          <p:txBody>
            <a:bodyPr lIns="39317" tIns="39317" rIns="39317" bIns="39317" rtlCol="0" anchor="ctr"/>
            <a:lstStyle/>
            <a:p>
              <a:pPr algn="ctr">
                <a:lnSpc>
                  <a:spcPts val="4703"/>
                </a:lnSpc>
              </a:pPr>
              <a:endParaRPr/>
            </a:p>
          </p:txBody>
        </p:sp>
      </p:grpSp>
      <p:grpSp>
        <p:nvGrpSpPr>
          <p:cNvPr id="18" name="Group 18"/>
          <p:cNvGrpSpPr/>
          <p:nvPr/>
        </p:nvGrpSpPr>
        <p:grpSpPr>
          <a:xfrm>
            <a:off x="10026772" y="4475359"/>
            <a:ext cx="2752766" cy="1724933"/>
            <a:chOff x="0" y="0"/>
            <a:chExt cx="434777" cy="272439"/>
          </a:xfrm>
        </p:grpSpPr>
        <p:sp>
          <p:nvSpPr>
            <p:cNvPr id="19" name="Freeform 19"/>
            <p:cNvSpPr/>
            <p:nvPr/>
          </p:nvSpPr>
          <p:spPr>
            <a:xfrm>
              <a:off x="0" y="0"/>
              <a:ext cx="434777" cy="272439"/>
            </a:xfrm>
            <a:custGeom>
              <a:avLst/>
              <a:gdLst/>
              <a:ahLst/>
              <a:cxnLst/>
              <a:rect l="l" t="t" r="r" b="b"/>
              <a:pathLst>
                <a:path w="434777" h="272439">
                  <a:moveTo>
                    <a:pt x="0" y="0"/>
                  </a:moveTo>
                  <a:lnTo>
                    <a:pt x="434777" y="0"/>
                  </a:lnTo>
                  <a:lnTo>
                    <a:pt x="434777" y="272439"/>
                  </a:lnTo>
                  <a:lnTo>
                    <a:pt x="0" y="272439"/>
                  </a:lnTo>
                  <a:close/>
                </a:path>
              </a:pathLst>
            </a:custGeom>
            <a:solidFill>
              <a:srgbClr val="000000">
                <a:alpha val="0"/>
              </a:srgbClr>
            </a:solidFill>
            <a:ln w="28575" cap="sq">
              <a:solidFill>
                <a:srgbClr val="E65757"/>
              </a:solidFill>
              <a:prstDash val="solid"/>
              <a:miter/>
            </a:ln>
          </p:spPr>
          <p:txBody>
            <a:bodyPr/>
            <a:lstStyle/>
            <a:p>
              <a:endParaRPr lang="zh-TW" altLang="en-US"/>
            </a:p>
          </p:txBody>
        </p:sp>
        <p:sp>
          <p:nvSpPr>
            <p:cNvPr id="20" name="TextBox 20"/>
            <p:cNvSpPr txBox="1"/>
            <p:nvPr/>
          </p:nvSpPr>
          <p:spPr>
            <a:xfrm>
              <a:off x="0" y="85725"/>
              <a:ext cx="434777" cy="186714"/>
            </a:xfrm>
            <a:prstGeom prst="rect">
              <a:avLst/>
            </a:prstGeom>
          </p:spPr>
          <p:txBody>
            <a:bodyPr lIns="39317" tIns="39317" rIns="39317" bIns="39317" rtlCol="0" anchor="ctr"/>
            <a:lstStyle/>
            <a:p>
              <a:pPr algn="ctr">
                <a:lnSpc>
                  <a:spcPts val="4703"/>
                </a:lnSpc>
              </a:pPr>
              <a:endParaRPr/>
            </a:p>
          </p:txBody>
        </p:sp>
      </p:grpSp>
      <p:grpSp>
        <p:nvGrpSpPr>
          <p:cNvPr id="21" name="Group 21"/>
          <p:cNvGrpSpPr/>
          <p:nvPr/>
        </p:nvGrpSpPr>
        <p:grpSpPr>
          <a:xfrm>
            <a:off x="10019555" y="6247864"/>
            <a:ext cx="2752766" cy="368377"/>
            <a:chOff x="0" y="0"/>
            <a:chExt cx="434777" cy="58182"/>
          </a:xfrm>
        </p:grpSpPr>
        <p:sp>
          <p:nvSpPr>
            <p:cNvPr id="22" name="Freeform 22"/>
            <p:cNvSpPr/>
            <p:nvPr/>
          </p:nvSpPr>
          <p:spPr>
            <a:xfrm>
              <a:off x="0" y="0"/>
              <a:ext cx="434777" cy="58182"/>
            </a:xfrm>
            <a:custGeom>
              <a:avLst/>
              <a:gdLst/>
              <a:ahLst/>
              <a:cxnLst/>
              <a:rect l="l" t="t" r="r" b="b"/>
              <a:pathLst>
                <a:path w="434777" h="58182">
                  <a:moveTo>
                    <a:pt x="0" y="0"/>
                  </a:moveTo>
                  <a:lnTo>
                    <a:pt x="434777" y="0"/>
                  </a:lnTo>
                  <a:lnTo>
                    <a:pt x="434777" y="58182"/>
                  </a:lnTo>
                  <a:lnTo>
                    <a:pt x="0" y="58182"/>
                  </a:lnTo>
                  <a:close/>
                </a:path>
              </a:pathLst>
            </a:custGeom>
            <a:solidFill>
              <a:srgbClr val="000000">
                <a:alpha val="0"/>
              </a:srgbClr>
            </a:solidFill>
            <a:ln w="28575" cap="sq">
              <a:solidFill>
                <a:srgbClr val="E65757"/>
              </a:solidFill>
              <a:prstDash val="solid"/>
              <a:miter/>
            </a:ln>
          </p:spPr>
          <p:txBody>
            <a:bodyPr/>
            <a:lstStyle/>
            <a:p>
              <a:endParaRPr lang="zh-TW" altLang="en-US"/>
            </a:p>
          </p:txBody>
        </p:sp>
        <p:sp>
          <p:nvSpPr>
            <p:cNvPr id="23" name="TextBox 23"/>
            <p:cNvSpPr txBox="1"/>
            <p:nvPr/>
          </p:nvSpPr>
          <p:spPr>
            <a:xfrm>
              <a:off x="0" y="85725"/>
              <a:ext cx="434777" cy="58182"/>
            </a:xfrm>
            <a:prstGeom prst="rect">
              <a:avLst/>
            </a:prstGeom>
          </p:spPr>
          <p:txBody>
            <a:bodyPr lIns="39317" tIns="39317" rIns="39317" bIns="39317" rtlCol="0" anchor="ctr"/>
            <a:lstStyle/>
            <a:p>
              <a:pPr algn="ctr">
                <a:lnSpc>
                  <a:spcPts val="4703"/>
                </a:lnSpc>
              </a:pPr>
              <a:endParaRPr/>
            </a:p>
          </p:txBody>
        </p:sp>
      </p:grpSp>
      <p:grpSp>
        <p:nvGrpSpPr>
          <p:cNvPr id="24" name="Group 24"/>
          <p:cNvGrpSpPr/>
          <p:nvPr/>
        </p:nvGrpSpPr>
        <p:grpSpPr>
          <a:xfrm>
            <a:off x="10026772" y="6712871"/>
            <a:ext cx="2752766" cy="1065723"/>
            <a:chOff x="0" y="0"/>
            <a:chExt cx="434777" cy="168322"/>
          </a:xfrm>
        </p:grpSpPr>
        <p:sp>
          <p:nvSpPr>
            <p:cNvPr id="25" name="Freeform 25"/>
            <p:cNvSpPr/>
            <p:nvPr/>
          </p:nvSpPr>
          <p:spPr>
            <a:xfrm>
              <a:off x="0" y="0"/>
              <a:ext cx="434777" cy="168322"/>
            </a:xfrm>
            <a:custGeom>
              <a:avLst/>
              <a:gdLst/>
              <a:ahLst/>
              <a:cxnLst/>
              <a:rect l="l" t="t" r="r" b="b"/>
              <a:pathLst>
                <a:path w="434777" h="168322">
                  <a:moveTo>
                    <a:pt x="0" y="0"/>
                  </a:moveTo>
                  <a:lnTo>
                    <a:pt x="434777" y="0"/>
                  </a:lnTo>
                  <a:lnTo>
                    <a:pt x="434777" y="168322"/>
                  </a:lnTo>
                  <a:lnTo>
                    <a:pt x="0" y="168322"/>
                  </a:lnTo>
                  <a:close/>
                </a:path>
              </a:pathLst>
            </a:custGeom>
            <a:solidFill>
              <a:srgbClr val="000000">
                <a:alpha val="0"/>
              </a:srgbClr>
            </a:solidFill>
            <a:ln w="28575" cap="sq">
              <a:solidFill>
                <a:srgbClr val="E65757"/>
              </a:solidFill>
              <a:prstDash val="solid"/>
              <a:miter/>
            </a:ln>
          </p:spPr>
          <p:txBody>
            <a:bodyPr/>
            <a:lstStyle/>
            <a:p>
              <a:endParaRPr lang="zh-TW" altLang="en-US"/>
            </a:p>
          </p:txBody>
        </p:sp>
        <p:sp>
          <p:nvSpPr>
            <p:cNvPr id="26" name="TextBox 26"/>
            <p:cNvSpPr txBox="1"/>
            <p:nvPr/>
          </p:nvSpPr>
          <p:spPr>
            <a:xfrm>
              <a:off x="0" y="85725"/>
              <a:ext cx="434777" cy="82597"/>
            </a:xfrm>
            <a:prstGeom prst="rect">
              <a:avLst/>
            </a:prstGeom>
          </p:spPr>
          <p:txBody>
            <a:bodyPr lIns="39317" tIns="39317" rIns="39317" bIns="39317" rtlCol="0" anchor="ctr"/>
            <a:lstStyle/>
            <a:p>
              <a:pPr algn="ctr">
                <a:lnSpc>
                  <a:spcPts val="4703"/>
                </a:lnSpc>
              </a:pPr>
              <a:endParaRPr/>
            </a:p>
          </p:txBody>
        </p:sp>
      </p:grpSp>
      <p:sp>
        <p:nvSpPr>
          <p:cNvPr id="27" name="Freeform 27"/>
          <p:cNvSpPr/>
          <p:nvPr/>
        </p:nvSpPr>
        <p:spPr>
          <a:xfrm>
            <a:off x="14266693" y="4534368"/>
            <a:ext cx="2648440" cy="4356741"/>
          </a:xfrm>
          <a:custGeom>
            <a:avLst/>
            <a:gdLst/>
            <a:ahLst/>
            <a:cxnLst/>
            <a:rect l="l" t="t" r="r" b="b"/>
            <a:pathLst>
              <a:path w="2648440" h="4356741">
                <a:moveTo>
                  <a:pt x="0" y="0"/>
                </a:moveTo>
                <a:lnTo>
                  <a:pt x="2648440" y="0"/>
                </a:lnTo>
                <a:lnTo>
                  <a:pt x="2648440" y="4356741"/>
                </a:lnTo>
                <a:lnTo>
                  <a:pt x="0" y="4356741"/>
                </a:lnTo>
                <a:lnTo>
                  <a:pt x="0" y="0"/>
                </a:lnTo>
                <a:close/>
              </a:path>
            </a:pathLst>
          </a:custGeom>
          <a:blipFill>
            <a:blip r:embed="rId5"/>
            <a:stretch>
              <a:fillRect/>
            </a:stretch>
          </a:blipFill>
        </p:spPr>
        <p:txBody>
          <a:bodyPr/>
          <a:lstStyle/>
          <a:p>
            <a:endParaRPr lang="zh-TW" altLang="en-US"/>
          </a:p>
        </p:txBody>
      </p:sp>
      <p:grpSp>
        <p:nvGrpSpPr>
          <p:cNvPr id="28" name="Group 28"/>
          <p:cNvGrpSpPr/>
          <p:nvPr/>
        </p:nvGrpSpPr>
        <p:grpSpPr>
          <a:xfrm>
            <a:off x="14202730" y="4475359"/>
            <a:ext cx="2776367" cy="1466085"/>
            <a:chOff x="0" y="0"/>
            <a:chExt cx="439817" cy="232249"/>
          </a:xfrm>
        </p:grpSpPr>
        <p:sp>
          <p:nvSpPr>
            <p:cNvPr id="29" name="Freeform 29"/>
            <p:cNvSpPr/>
            <p:nvPr/>
          </p:nvSpPr>
          <p:spPr>
            <a:xfrm>
              <a:off x="0" y="0"/>
              <a:ext cx="439817" cy="232249"/>
            </a:xfrm>
            <a:custGeom>
              <a:avLst/>
              <a:gdLst/>
              <a:ahLst/>
              <a:cxnLst/>
              <a:rect l="l" t="t" r="r" b="b"/>
              <a:pathLst>
                <a:path w="439817" h="232249">
                  <a:moveTo>
                    <a:pt x="0" y="0"/>
                  </a:moveTo>
                  <a:lnTo>
                    <a:pt x="439817" y="0"/>
                  </a:lnTo>
                  <a:lnTo>
                    <a:pt x="439817" y="232249"/>
                  </a:lnTo>
                  <a:lnTo>
                    <a:pt x="0" y="232249"/>
                  </a:lnTo>
                  <a:close/>
                </a:path>
              </a:pathLst>
            </a:custGeom>
            <a:solidFill>
              <a:srgbClr val="000000">
                <a:alpha val="0"/>
              </a:srgbClr>
            </a:solidFill>
            <a:ln w="28575" cap="sq">
              <a:solidFill>
                <a:srgbClr val="E65757"/>
              </a:solidFill>
              <a:prstDash val="solid"/>
              <a:miter/>
            </a:ln>
          </p:spPr>
          <p:txBody>
            <a:bodyPr/>
            <a:lstStyle/>
            <a:p>
              <a:endParaRPr lang="zh-TW" altLang="en-US"/>
            </a:p>
          </p:txBody>
        </p:sp>
        <p:sp>
          <p:nvSpPr>
            <p:cNvPr id="30" name="TextBox 30"/>
            <p:cNvSpPr txBox="1"/>
            <p:nvPr/>
          </p:nvSpPr>
          <p:spPr>
            <a:xfrm>
              <a:off x="0" y="85725"/>
              <a:ext cx="439817" cy="146524"/>
            </a:xfrm>
            <a:prstGeom prst="rect">
              <a:avLst/>
            </a:prstGeom>
          </p:spPr>
          <p:txBody>
            <a:bodyPr lIns="39317" tIns="39317" rIns="39317" bIns="39317" rtlCol="0" anchor="ctr"/>
            <a:lstStyle/>
            <a:p>
              <a:pPr algn="ctr">
                <a:lnSpc>
                  <a:spcPts val="4703"/>
                </a:lnSpc>
              </a:pPr>
              <a:endParaRPr/>
            </a:p>
          </p:txBody>
        </p:sp>
      </p:grpSp>
      <p:sp>
        <p:nvSpPr>
          <p:cNvPr id="31" name="TextBox 31"/>
          <p:cNvSpPr txBox="1"/>
          <p:nvPr/>
        </p:nvSpPr>
        <p:spPr>
          <a:xfrm>
            <a:off x="9686216" y="8524610"/>
            <a:ext cx="403358" cy="381864"/>
          </a:xfrm>
          <a:prstGeom prst="rect">
            <a:avLst/>
          </a:prstGeom>
        </p:spPr>
        <p:txBody>
          <a:bodyPr lIns="0" tIns="0" rIns="0" bIns="0" rtlCol="0" anchor="t">
            <a:spAutoFit/>
          </a:bodyPr>
          <a:lstStyle/>
          <a:p>
            <a:pPr algn="just">
              <a:lnSpc>
                <a:spcPts val="3102"/>
              </a:lnSpc>
              <a:spcBef>
                <a:spcPct val="0"/>
              </a:spcBef>
            </a:pPr>
            <a:r>
              <a:rPr lang="en-US" sz="2216">
                <a:solidFill>
                  <a:srgbClr val="000000"/>
                </a:solidFill>
                <a:latin typeface="Quicksand"/>
                <a:ea typeface="Quicksand"/>
                <a:cs typeface="Quicksand"/>
                <a:sym typeface="Quicksand"/>
              </a:rPr>
              <a:t>(8)</a:t>
            </a:r>
          </a:p>
        </p:txBody>
      </p:sp>
      <p:grpSp>
        <p:nvGrpSpPr>
          <p:cNvPr id="32" name="Group 32"/>
          <p:cNvGrpSpPr/>
          <p:nvPr/>
        </p:nvGrpSpPr>
        <p:grpSpPr>
          <a:xfrm>
            <a:off x="10011726" y="8608684"/>
            <a:ext cx="2752766" cy="368377"/>
            <a:chOff x="0" y="0"/>
            <a:chExt cx="434777" cy="58182"/>
          </a:xfrm>
        </p:grpSpPr>
        <p:sp>
          <p:nvSpPr>
            <p:cNvPr id="33" name="Freeform 33"/>
            <p:cNvSpPr/>
            <p:nvPr/>
          </p:nvSpPr>
          <p:spPr>
            <a:xfrm>
              <a:off x="0" y="0"/>
              <a:ext cx="434777" cy="58182"/>
            </a:xfrm>
            <a:custGeom>
              <a:avLst/>
              <a:gdLst/>
              <a:ahLst/>
              <a:cxnLst/>
              <a:rect l="l" t="t" r="r" b="b"/>
              <a:pathLst>
                <a:path w="434777" h="58182">
                  <a:moveTo>
                    <a:pt x="0" y="0"/>
                  </a:moveTo>
                  <a:lnTo>
                    <a:pt x="434777" y="0"/>
                  </a:lnTo>
                  <a:lnTo>
                    <a:pt x="434777" y="58182"/>
                  </a:lnTo>
                  <a:lnTo>
                    <a:pt x="0" y="58182"/>
                  </a:lnTo>
                  <a:close/>
                </a:path>
              </a:pathLst>
            </a:custGeom>
            <a:solidFill>
              <a:srgbClr val="000000">
                <a:alpha val="0"/>
              </a:srgbClr>
            </a:solidFill>
            <a:ln w="28575" cap="sq">
              <a:solidFill>
                <a:srgbClr val="E65757"/>
              </a:solidFill>
              <a:prstDash val="solid"/>
              <a:miter/>
            </a:ln>
          </p:spPr>
          <p:txBody>
            <a:bodyPr/>
            <a:lstStyle/>
            <a:p>
              <a:endParaRPr lang="zh-TW" altLang="en-US"/>
            </a:p>
          </p:txBody>
        </p:sp>
        <p:sp>
          <p:nvSpPr>
            <p:cNvPr id="34" name="TextBox 34"/>
            <p:cNvSpPr txBox="1"/>
            <p:nvPr/>
          </p:nvSpPr>
          <p:spPr>
            <a:xfrm>
              <a:off x="0" y="85725"/>
              <a:ext cx="434777" cy="58182"/>
            </a:xfrm>
            <a:prstGeom prst="rect">
              <a:avLst/>
            </a:prstGeom>
          </p:spPr>
          <p:txBody>
            <a:bodyPr lIns="39317" tIns="39317" rIns="39317" bIns="39317" rtlCol="0" anchor="ctr"/>
            <a:lstStyle/>
            <a:p>
              <a:pPr algn="ctr">
                <a:lnSpc>
                  <a:spcPts val="4703"/>
                </a:lnSpc>
              </a:pPr>
              <a:endParaRPr/>
            </a:p>
          </p:txBody>
        </p:sp>
      </p:grpSp>
      <p:sp>
        <p:nvSpPr>
          <p:cNvPr id="35" name="Freeform 35"/>
          <p:cNvSpPr/>
          <p:nvPr/>
        </p:nvSpPr>
        <p:spPr>
          <a:xfrm>
            <a:off x="768073" y="2198453"/>
            <a:ext cx="1646713" cy="619576"/>
          </a:xfrm>
          <a:custGeom>
            <a:avLst/>
            <a:gdLst/>
            <a:ahLst/>
            <a:cxnLst/>
            <a:rect l="l" t="t" r="r" b="b"/>
            <a:pathLst>
              <a:path w="1646713" h="619576">
                <a:moveTo>
                  <a:pt x="0" y="0"/>
                </a:moveTo>
                <a:lnTo>
                  <a:pt x="1646713" y="0"/>
                </a:lnTo>
                <a:lnTo>
                  <a:pt x="1646713" y="619576"/>
                </a:lnTo>
                <a:lnTo>
                  <a:pt x="0" y="619576"/>
                </a:lnTo>
                <a:lnTo>
                  <a:pt x="0" y="0"/>
                </a:lnTo>
                <a:close/>
              </a:path>
            </a:pathLst>
          </a:custGeom>
          <a:blipFill>
            <a:blip r:embed="rId6"/>
            <a:stretch>
              <a:fillRect/>
            </a:stretch>
          </a:blipFill>
        </p:spPr>
        <p:txBody>
          <a:bodyPr/>
          <a:lstStyle/>
          <a:p>
            <a:endParaRPr lang="zh-TW" altLang="en-US"/>
          </a:p>
        </p:txBody>
      </p:sp>
      <p:sp>
        <p:nvSpPr>
          <p:cNvPr id="36" name="AutoShape 36"/>
          <p:cNvSpPr/>
          <p:nvPr/>
        </p:nvSpPr>
        <p:spPr>
          <a:xfrm>
            <a:off x="2507634" y="2527191"/>
            <a:ext cx="402666" cy="0"/>
          </a:xfrm>
          <a:prstGeom prst="line">
            <a:avLst/>
          </a:prstGeom>
          <a:ln w="28575" cap="flat">
            <a:solidFill>
              <a:srgbClr val="000000"/>
            </a:solidFill>
            <a:prstDash val="solid"/>
            <a:headEnd type="none" w="sm" len="sm"/>
            <a:tailEnd type="arrow" w="med" len="sm"/>
          </a:ln>
        </p:spPr>
        <p:txBody>
          <a:bodyPr/>
          <a:lstStyle/>
          <a:p>
            <a:endParaRPr lang="zh-TW" altLang="en-US"/>
          </a:p>
        </p:txBody>
      </p:sp>
      <p:sp>
        <p:nvSpPr>
          <p:cNvPr id="37" name="Freeform 37"/>
          <p:cNvSpPr/>
          <p:nvPr/>
        </p:nvSpPr>
        <p:spPr>
          <a:xfrm>
            <a:off x="3911550" y="1899437"/>
            <a:ext cx="618099" cy="537184"/>
          </a:xfrm>
          <a:custGeom>
            <a:avLst/>
            <a:gdLst/>
            <a:ahLst/>
            <a:cxnLst/>
            <a:rect l="l" t="t" r="r" b="b"/>
            <a:pathLst>
              <a:path w="618099" h="537184">
                <a:moveTo>
                  <a:pt x="0" y="0"/>
                </a:moveTo>
                <a:lnTo>
                  <a:pt x="618098" y="0"/>
                </a:lnTo>
                <a:lnTo>
                  <a:pt x="618098" y="537183"/>
                </a:lnTo>
                <a:lnTo>
                  <a:pt x="0" y="53718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sp>
        <p:nvSpPr>
          <p:cNvPr id="38" name="Freeform 38"/>
          <p:cNvSpPr/>
          <p:nvPr/>
        </p:nvSpPr>
        <p:spPr>
          <a:xfrm>
            <a:off x="3895159" y="2549717"/>
            <a:ext cx="634489" cy="393383"/>
          </a:xfrm>
          <a:custGeom>
            <a:avLst/>
            <a:gdLst/>
            <a:ahLst/>
            <a:cxnLst/>
            <a:rect l="l" t="t" r="r" b="b"/>
            <a:pathLst>
              <a:path w="634489" h="393383">
                <a:moveTo>
                  <a:pt x="0" y="0"/>
                </a:moveTo>
                <a:lnTo>
                  <a:pt x="634489" y="0"/>
                </a:lnTo>
                <a:lnTo>
                  <a:pt x="634489" y="393383"/>
                </a:lnTo>
                <a:lnTo>
                  <a:pt x="0" y="39338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TW" altLang="en-US"/>
          </a:p>
        </p:txBody>
      </p:sp>
      <p:sp>
        <p:nvSpPr>
          <p:cNvPr id="39" name="Freeform 39"/>
          <p:cNvSpPr/>
          <p:nvPr/>
        </p:nvSpPr>
        <p:spPr>
          <a:xfrm>
            <a:off x="3038196" y="2143389"/>
            <a:ext cx="714852" cy="714852"/>
          </a:xfrm>
          <a:custGeom>
            <a:avLst/>
            <a:gdLst/>
            <a:ahLst/>
            <a:cxnLst/>
            <a:rect l="l" t="t" r="r" b="b"/>
            <a:pathLst>
              <a:path w="714852" h="714852">
                <a:moveTo>
                  <a:pt x="0" y="0"/>
                </a:moveTo>
                <a:lnTo>
                  <a:pt x="714851" y="0"/>
                </a:lnTo>
                <a:lnTo>
                  <a:pt x="714851" y="714852"/>
                </a:lnTo>
                <a:lnTo>
                  <a:pt x="0" y="71485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40" name="AutoShape 40"/>
          <p:cNvSpPr/>
          <p:nvPr/>
        </p:nvSpPr>
        <p:spPr>
          <a:xfrm>
            <a:off x="4784226" y="2527191"/>
            <a:ext cx="1086380" cy="0"/>
          </a:xfrm>
          <a:prstGeom prst="line">
            <a:avLst/>
          </a:prstGeom>
          <a:ln w="28575" cap="flat">
            <a:solidFill>
              <a:srgbClr val="000000"/>
            </a:solidFill>
            <a:prstDash val="solid"/>
            <a:headEnd type="none" w="sm" len="sm"/>
            <a:tailEnd type="arrow" w="med" len="sm"/>
          </a:ln>
        </p:spPr>
        <p:txBody>
          <a:bodyPr/>
          <a:lstStyle/>
          <a:p>
            <a:endParaRPr lang="zh-TW" altLang="en-US"/>
          </a:p>
        </p:txBody>
      </p:sp>
      <p:sp>
        <p:nvSpPr>
          <p:cNvPr id="41" name="Freeform 41"/>
          <p:cNvSpPr/>
          <p:nvPr/>
        </p:nvSpPr>
        <p:spPr>
          <a:xfrm>
            <a:off x="6853315" y="1971057"/>
            <a:ext cx="692931" cy="692931"/>
          </a:xfrm>
          <a:custGeom>
            <a:avLst/>
            <a:gdLst/>
            <a:ahLst/>
            <a:cxnLst/>
            <a:rect l="l" t="t" r="r" b="b"/>
            <a:pathLst>
              <a:path w="692931" h="692931">
                <a:moveTo>
                  <a:pt x="0" y="0"/>
                </a:moveTo>
                <a:lnTo>
                  <a:pt x="692931" y="0"/>
                </a:lnTo>
                <a:lnTo>
                  <a:pt x="692931" y="692932"/>
                </a:lnTo>
                <a:lnTo>
                  <a:pt x="0" y="692932"/>
                </a:lnTo>
                <a:lnTo>
                  <a:pt x="0" y="0"/>
                </a:lnTo>
                <a:close/>
              </a:path>
            </a:pathLst>
          </a:custGeom>
          <a:blipFill>
            <a:blip r:embed="rId13"/>
            <a:stretch>
              <a:fillRect/>
            </a:stretch>
          </a:blipFill>
        </p:spPr>
        <p:txBody>
          <a:bodyPr/>
          <a:lstStyle/>
          <a:p>
            <a:endParaRPr lang="zh-TW" altLang="en-US"/>
          </a:p>
        </p:txBody>
      </p:sp>
      <p:sp>
        <p:nvSpPr>
          <p:cNvPr id="42" name="Freeform 42"/>
          <p:cNvSpPr/>
          <p:nvPr/>
        </p:nvSpPr>
        <p:spPr>
          <a:xfrm>
            <a:off x="6083619" y="2068798"/>
            <a:ext cx="618099" cy="537184"/>
          </a:xfrm>
          <a:custGeom>
            <a:avLst/>
            <a:gdLst/>
            <a:ahLst/>
            <a:cxnLst/>
            <a:rect l="l" t="t" r="r" b="b"/>
            <a:pathLst>
              <a:path w="618099" h="537184">
                <a:moveTo>
                  <a:pt x="0" y="0"/>
                </a:moveTo>
                <a:lnTo>
                  <a:pt x="618098" y="0"/>
                </a:lnTo>
                <a:lnTo>
                  <a:pt x="618098" y="537184"/>
                </a:lnTo>
                <a:lnTo>
                  <a:pt x="0" y="53718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TW" altLang="en-US"/>
          </a:p>
        </p:txBody>
      </p:sp>
      <p:sp>
        <p:nvSpPr>
          <p:cNvPr id="43" name="AutoShape 43"/>
          <p:cNvSpPr/>
          <p:nvPr/>
        </p:nvSpPr>
        <p:spPr>
          <a:xfrm>
            <a:off x="7743713" y="2348971"/>
            <a:ext cx="1423650" cy="0"/>
          </a:xfrm>
          <a:prstGeom prst="line">
            <a:avLst/>
          </a:prstGeom>
          <a:ln w="28575" cap="flat">
            <a:solidFill>
              <a:srgbClr val="000000"/>
            </a:solidFill>
            <a:prstDash val="solid"/>
            <a:headEnd type="none" w="sm" len="sm"/>
            <a:tailEnd type="arrow" w="med" len="sm"/>
          </a:ln>
        </p:spPr>
        <p:txBody>
          <a:bodyPr/>
          <a:lstStyle/>
          <a:p>
            <a:endParaRPr lang="zh-TW" altLang="en-US"/>
          </a:p>
        </p:txBody>
      </p:sp>
      <p:sp>
        <p:nvSpPr>
          <p:cNvPr id="44" name="TextBox 44"/>
          <p:cNvSpPr txBox="1"/>
          <p:nvPr/>
        </p:nvSpPr>
        <p:spPr>
          <a:xfrm>
            <a:off x="6633710" y="1658068"/>
            <a:ext cx="3639863" cy="549910"/>
          </a:xfrm>
          <a:prstGeom prst="rect">
            <a:avLst/>
          </a:prstGeom>
        </p:spPr>
        <p:txBody>
          <a:bodyPr lIns="0" tIns="0" rIns="0" bIns="0" rtlCol="0" anchor="t">
            <a:spAutoFit/>
          </a:bodyPr>
          <a:lstStyle/>
          <a:p>
            <a:pPr algn="ctr">
              <a:lnSpc>
                <a:spcPts val="2239"/>
              </a:lnSpc>
            </a:pPr>
            <a:r>
              <a:rPr lang="en-US" sz="1599">
                <a:solidFill>
                  <a:srgbClr val="000000"/>
                </a:solidFill>
                <a:latin typeface="Quicksand"/>
                <a:ea typeface="Quicksand"/>
                <a:cs typeface="Quicksand"/>
                <a:sym typeface="Quicksand"/>
              </a:rPr>
              <a:t>Cut video into clip file</a:t>
            </a:r>
          </a:p>
          <a:p>
            <a:pPr algn="ctr">
              <a:lnSpc>
                <a:spcPts val="2239"/>
              </a:lnSpc>
              <a:spcBef>
                <a:spcPct val="0"/>
              </a:spcBef>
            </a:pPr>
            <a:r>
              <a:rPr lang="en-US" sz="1599">
                <a:solidFill>
                  <a:srgbClr val="000000"/>
                </a:solidFill>
                <a:latin typeface="Quicksand"/>
                <a:ea typeface="Quicksand"/>
                <a:cs typeface="Quicksand"/>
                <a:sym typeface="Quicksand"/>
              </a:rPr>
              <a:t>by timestamp</a:t>
            </a:r>
          </a:p>
        </p:txBody>
      </p:sp>
      <p:sp>
        <p:nvSpPr>
          <p:cNvPr id="45" name="Freeform 45"/>
          <p:cNvSpPr/>
          <p:nvPr/>
        </p:nvSpPr>
        <p:spPr>
          <a:xfrm>
            <a:off x="9498621" y="2119988"/>
            <a:ext cx="544000" cy="544000"/>
          </a:xfrm>
          <a:custGeom>
            <a:avLst/>
            <a:gdLst/>
            <a:ahLst/>
            <a:cxnLst/>
            <a:rect l="l" t="t" r="r" b="b"/>
            <a:pathLst>
              <a:path w="544000" h="544000">
                <a:moveTo>
                  <a:pt x="0" y="0"/>
                </a:moveTo>
                <a:lnTo>
                  <a:pt x="544001" y="0"/>
                </a:lnTo>
                <a:lnTo>
                  <a:pt x="544001" y="544001"/>
                </a:lnTo>
                <a:lnTo>
                  <a:pt x="0" y="54400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zh-TW" altLang="en-US"/>
          </a:p>
        </p:txBody>
      </p:sp>
      <p:sp>
        <p:nvSpPr>
          <p:cNvPr id="46" name="Freeform 46"/>
          <p:cNvSpPr/>
          <p:nvPr/>
        </p:nvSpPr>
        <p:spPr>
          <a:xfrm>
            <a:off x="10137878" y="2029481"/>
            <a:ext cx="1312452" cy="716927"/>
          </a:xfrm>
          <a:custGeom>
            <a:avLst/>
            <a:gdLst/>
            <a:ahLst/>
            <a:cxnLst/>
            <a:rect l="l" t="t" r="r" b="b"/>
            <a:pathLst>
              <a:path w="1312452" h="716927">
                <a:moveTo>
                  <a:pt x="0" y="0"/>
                </a:moveTo>
                <a:lnTo>
                  <a:pt x="1312452" y="0"/>
                </a:lnTo>
                <a:lnTo>
                  <a:pt x="1312452" y="716927"/>
                </a:lnTo>
                <a:lnTo>
                  <a:pt x="0" y="71692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zh-TW" altLang="en-US"/>
          </a:p>
        </p:txBody>
      </p:sp>
      <p:sp>
        <p:nvSpPr>
          <p:cNvPr id="47" name="Freeform 47"/>
          <p:cNvSpPr/>
          <p:nvPr/>
        </p:nvSpPr>
        <p:spPr>
          <a:xfrm>
            <a:off x="10200536" y="2110022"/>
            <a:ext cx="522608" cy="568427"/>
          </a:xfrm>
          <a:custGeom>
            <a:avLst/>
            <a:gdLst/>
            <a:ahLst/>
            <a:cxnLst/>
            <a:rect l="l" t="t" r="r" b="b"/>
            <a:pathLst>
              <a:path w="522608" h="568427">
                <a:moveTo>
                  <a:pt x="0" y="0"/>
                </a:moveTo>
                <a:lnTo>
                  <a:pt x="522607" y="0"/>
                </a:lnTo>
                <a:lnTo>
                  <a:pt x="522607" y="568427"/>
                </a:lnTo>
                <a:lnTo>
                  <a:pt x="0" y="568427"/>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zh-TW" altLang="en-US"/>
          </a:p>
        </p:txBody>
      </p:sp>
      <p:sp>
        <p:nvSpPr>
          <p:cNvPr id="48" name="Freeform 48"/>
          <p:cNvSpPr/>
          <p:nvPr/>
        </p:nvSpPr>
        <p:spPr>
          <a:xfrm>
            <a:off x="10816070" y="2157509"/>
            <a:ext cx="502796" cy="506479"/>
          </a:xfrm>
          <a:custGeom>
            <a:avLst/>
            <a:gdLst/>
            <a:ahLst/>
            <a:cxnLst/>
            <a:rect l="l" t="t" r="r" b="b"/>
            <a:pathLst>
              <a:path w="502796" h="506479">
                <a:moveTo>
                  <a:pt x="0" y="0"/>
                </a:moveTo>
                <a:lnTo>
                  <a:pt x="502796" y="0"/>
                </a:lnTo>
                <a:lnTo>
                  <a:pt x="502796" y="506480"/>
                </a:lnTo>
                <a:lnTo>
                  <a:pt x="0" y="50648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zh-TW" altLang="en-US"/>
          </a:p>
        </p:txBody>
      </p:sp>
      <p:sp>
        <p:nvSpPr>
          <p:cNvPr id="49" name="Freeform 49"/>
          <p:cNvSpPr/>
          <p:nvPr/>
        </p:nvSpPr>
        <p:spPr>
          <a:xfrm rot="-6722618">
            <a:off x="9943185" y="1464415"/>
            <a:ext cx="514702" cy="796444"/>
          </a:xfrm>
          <a:custGeom>
            <a:avLst/>
            <a:gdLst/>
            <a:ahLst/>
            <a:cxnLst/>
            <a:rect l="l" t="t" r="r" b="b"/>
            <a:pathLst>
              <a:path w="514702" h="796444">
                <a:moveTo>
                  <a:pt x="0" y="0"/>
                </a:moveTo>
                <a:lnTo>
                  <a:pt x="514702" y="0"/>
                </a:lnTo>
                <a:lnTo>
                  <a:pt x="514702" y="796444"/>
                </a:lnTo>
                <a:lnTo>
                  <a:pt x="0" y="79644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zh-TW" altLang="en-US"/>
          </a:p>
        </p:txBody>
      </p:sp>
      <p:sp>
        <p:nvSpPr>
          <p:cNvPr id="50" name="AutoShape 50"/>
          <p:cNvSpPr/>
          <p:nvPr/>
        </p:nvSpPr>
        <p:spPr>
          <a:xfrm flipV="1">
            <a:off x="11657750" y="2500815"/>
            <a:ext cx="1426588" cy="0"/>
          </a:xfrm>
          <a:prstGeom prst="line">
            <a:avLst/>
          </a:prstGeom>
          <a:ln w="28575" cap="flat">
            <a:solidFill>
              <a:srgbClr val="000000"/>
            </a:solidFill>
            <a:prstDash val="solid"/>
            <a:headEnd type="none" w="sm" len="sm"/>
            <a:tailEnd type="arrow" w="med" len="sm"/>
          </a:ln>
        </p:spPr>
        <p:txBody>
          <a:bodyPr/>
          <a:lstStyle/>
          <a:p>
            <a:endParaRPr lang="zh-TW" altLang="en-US"/>
          </a:p>
        </p:txBody>
      </p:sp>
      <p:sp>
        <p:nvSpPr>
          <p:cNvPr id="51" name="TextBox 51"/>
          <p:cNvSpPr txBox="1"/>
          <p:nvPr/>
        </p:nvSpPr>
        <p:spPr>
          <a:xfrm>
            <a:off x="11012834" y="2063705"/>
            <a:ext cx="2767600" cy="273685"/>
          </a:xfrm>
          <a:prstGeom prst="rect">
            <a:avLst/>
          </a:prstGeom>
        </p:spPr>
        <p:txBody>
          <a:bodyPr lIns="0" tIns="0" rIns="0" bIns="0" rtlCol="0" anchor="t">
            <a:spAutoFit/>
          </a:bodyPr>
          <a:lstStyle/>
          <a:p>
            <a:pPr algn="ctr">
              <a:lnSpc>
                <a:spcPts val="2239"/>
              </a:lnSpc>
              <a:spcBef>
                <a:spcPct val="0"/>
              </a:spcBef>
            </a:pPr>
            <a:r>
              <a:rPr lang="en-US" sz="1599">
                <a:solidFill>
                  <a:srgbClr val="000000"/>
                </a:solidFill>
                <a:latin typeface="Quicksand"/>
                <a:ea typeface="Quicksand"/>
                <a:cs typeface="Quicksand"/>
                <a:sym typeface="Quicksand"/>
              </a:rPr>
              <a:t>Face recognition</a:t>
            </a:r>
          </a:p>
        </p:txBody>
      </p:sp>
      <p:sp>
        <p:nvSpPr>
          <p:cNvPr id="52" name="TextBox 52"/>
          <p:cNvSpPr txBox="1"/>
          <p:nvPr/>
        </p:nvSpPr>
        <p:spPr>
          <a:xfrm>
            <a:off x="12641812" y="2214800"/>
            <a:ext cx="2767600" cy="464294"/>
          </a:xfrm>
          <a:prstGeom prst="rect">
            <a:avLst/>
          </a:prstGeom>
        </p:spPr>
        <p:txBody>
          <a:bodyPr lIns="0" tIns="0" rIns="0" bIns="0" rtlCol="0" anchor="t">
            <a:spAutoFit/>
          </a:bodyPr>
          <a:lstStyle/>
          <a:p>
            <a:pPr algn="ctr">
              <a:lnSpc>
                <a:spcPts val="3809"/>
              </a:lnSpc>
              <a:spcBef>
                <a:spcPct val="0"/>
              </a:spcBef>
            </a:pPr>
            <a:r>
              <a:rPr lang="en-US" sz="2720" b="1">
                <a:solidFill>
                  <a:srgbClr val="025AAB"/>
                </a:solidFill>
                <a:latin typeface="Quicksand Bold"/>
                <a:ea typeface="Quicksand Bold"/>
                <a:cs typeface="Quicksand Bold"/>
                <a:sym typeface="Quicksand Bold"/>
              </a:rPr>
              <a:t>Wav2Lip</a:t>
            </a:r>
          </a:p>
        </p:txBody>
      </p:sp>
      <p:sp>
        <p:nvSpPr>
          <p:cNvPr id="53" name="AutoShape 53"/>
          <p:cNvSpPr/>
          <p:nvPr/>
        </p:nvSpPr>
        <p:spPr>
          <a:xfrm>
            <a:off x="14898989" y="2500815"/>
            <a:ext cx="1205037" cy="0"/>
          </a:xfrm>
          <a:prstGeom prst="line">
            <a:avLst/>
          </a:prstGeom>
          <a:ln w="28575" cap="flat">
            <a:solidFill>
              <a:srgbClr val="000000"/>
            </a:solidFill>
            <a:prstDash val="solid"/>
            <a:headEnd type="none" w="sm" len="sm"/>
            <a:tailEnd type="arrow" w="med" len="sm"/>
          </a:ln>
        </p:spPr>
        <p:txBody>
          <a:bodyPr/>
          <a:lstStyle/>
          <a:p>
            <a:endParaRPr lang="zh-TW" altLang="en-US"/>
          </a:p>
        </p:txBody>
      </p:sp>
      <p:sp>
        <p:nvSpPr>
          <p:cNvPr id="54" name="TextBox 54"/>
          <p:cNvSpPr txBox="1"/>
          <p:nvPr/>
        </p:nvSpPr>
        <p:spPr>
          <a:xfrm>
            <a:off x="14179682" y="1817881"/>
            <a:ext cx="2767600" cy="826135"/>
          </a:xfrm>
          <a:prstGeom prst="rect">
            <a:avLst/>
          </a:prstGeom>
        </p:spPr>
        <p:txBody>
          <a:bodyPr lIns="0" tIns="0" rIns="0" bIns="0" rtlCol="0" anchor="t">
            <a:spAutoFit/>
          </a:bodyPr>
          <a:lstStyle/>
          <a:p>
            <a:pPr algn="ctr">
              <a:lnSpc>
                <a:spcPts val="2239"/>
              </a:lnSpc>
            </a:pPr>
            <a:r>
              <a:rPr lang="en-US" sz="1599">
                <a:solidFill>
                  <a:srgbClr val="000000"/>
                </a:solidFill>
                <a:latin typeface="Quicksand"/>
                <a:ea typeface="Quicksand"/>
                <a:cs typeface="Quicksand"/>
                <a:sym typeface="Quicksand"/>
              </a:rPr>
              <a:t>combine all </a:t>
            </a:r>
          </a:p>
          <a:p>
            <a:pPr algn="ctr">
              <a:lnSpc>
                <a:spcPts val="2239"/>
              </a:lnSpc>
            </a:pPr>
            <a:r>
              <a:rPr lang="en-US" sz="1599">
                <a:solidFill>
                  <a:srgbClr val="000000"/>
                </a:solidFill>
                <a:latin typeface="Quicksand"/>
                <a:ea typeface="Quicksand"/>
                <a:cs typeface="Quicksand"/>
                <a:sym typeface="Quicksand"/>
              </a:rPr>
              <a:t>lip-synced clips</a:t>
            </a:r>
          </a:p>
          <a:p>
            <a:pPr algn="ctr">
              <a:lnSpc>
                <a:spcPts val="2239"/>
              </a:lnSpc>
              <a:spcBef>
                <a:spcPct val="0"/>
              </a:spcBef>
            </a:pPr>
            <a:endParaRPr lang="en-US" sz="1599">
              <a:solidFill>
                <a:srgbClr val="000000"/>
              </a:solidFill>
              <a:latin typeface="Quicksand"/>
              <a:ea typeface="Quicksand"/>
              <a:cs typeface="Quicksand"/>
              <a:sym typeface="Quicksand"/>
            </a:endParaRPr>
          </a:p>
        </p:txBody>
      </p:sp>
      <p:sp>
        <p:nvSpPr>
          <p:cNvPr id="55" name="Freeform 55"/>
          <p:cNvSpPr/>
          <p:nvPr/>
        </p:nvSpPr>
        <p:spPr>
          <a:xfrm>
            <a:off x="16410976" y="2250633"/>
            <a:ext cx="634489" cy="393383"/>
          </a:xfrm>
          <a:custGeom>
            <a:avLst/>
            <a:gdLst/>
            <a:ahLst/>
            <a:cxnLst/>
            <a:rect l="l" t="t" r="r" b="b"/>
            <a:pathLst>
              <a:path w="634489" h="393383">
                <a:moveTo>
                  <a:pt x="0" y="0"/>
                </a:moveTo>
                <a:lnTo>
                  <a:pt x="634489" y="0"/>
                </a:lnTo>
                <a:lnTo>
                  <a:pt x="634489" y="393383"/>
                </a:lnTo>
                <a:lnTo>
                  <a:pt x="0" y="39338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TW" altLang="en-US"/>
          </a:p>
        </p:txBody>
      </p:sp>
      <p:sp>
        <p:nvSpPr>
          <p:cNvPr id="56" name="TextBox 56"/>
          <p:cNvSpPr txBox="1"/>
          <p:nvPr/>
        </p:nvSpPr>
        <p:spPr>
          <a:xfrm>
            <a:off x="629773" y="2837204"/>
            <a:ext cx="2079194" cy="323712"/>
          </a:xfrm>
          <a:prstGeom prst="rect">
            <a:avLst/>
          </a:prstGeom>
        </p:spPr>
        <p:txBody>
          <a:bodyPr lIns="0" tIns="0" rIns="0" bIns="0" rtlCol="0" anchor="t">
            <a:spAutoFit/>
          </a:bodyPr>
          <a:lstStyle/>
          <a:p>
            <a:pPr algn="ctr">
              <a:lnSpc>
                <a:spcPts val="2632"/>
              </a:lnSpc>
              <a:spcBef>
                <a:spcPct val="0"/>
              </a:spcBef>
            </a:pPr>
            <a:r>
              <a:rPr lang="en-US" sz="1880" b="1">
                <a:solidFill>
                  <a:srgbClr val="000000"/>
                </a:solidFill>
                <a:latin typeface="Quicksand Bold"/>
                <a:ea typeface="Quicksand Bold"/>
                <a:cs typeface="Quicksand Bold"/>
                <a:sym typeface="Quicksand Bold"/>
              </a:rPr>
              <a:t>Interface</a:t>
            </a:r>
          </a:p>
        </p:txBody>
      </p:sp>
      <p:sp>
        <p:nvSpPr>
          <p:cNvPr id="57" name="TextBox 57"/>
          <p:cNvSpPr txBox="1"/>
          <p:nvPr/>
        </p:nvSpPr>
        <p:spPr>
          <a:xfrm>
            <a:off x="2469510" y="3028312"/>
            <a:ext cx="2105038" cy="1173480"/>
          </a:xfrm>
          <a:prstGeom prst="rect">
            <a:avLst/>
          </a:prstGeom>
        </p:spPr>
        <p:txBody>
          <a:bodyPr lIns="0" tIns="0" rIns="0" bIns="0" rtlCol="0" anchor="t">
            <a:spAutoFit/>
          </a:bodyPr>
          <a:lstStyle/>
          <a:p>
            <a:pPr algn="ctr">
              <a:lnSpc>
                <a:spcPts val="2520"/>
              </a:lnSpc>
            </a:pPr>
            <a:r>
              <a:rPr lang="en-US" sz="1800" b="1">
                <a:solidFill>
                  <a:srgbClr val="000000"/>
                </a:solidFill>
                <a:latin typeface="Quicksand Bold"/>
                <a:ea typeface="Quicksand Bold"/>
                <a:cs typeface="Quicksand Bold"/>
                <a:sym typeface="Quicksand Bold"/>
              </a:rPr>
              <a:t>Input:</a:t>
            </a:r>
          </a:p>
          <a:p>
            <a:pPr algn="ctr">
              <a:lnSpc>
                <a:spcPts val="2239"/>
              </a:lnSpc>
            </a:pPr>
            <a:r>
              <a:rPr lang="en-US" sz="1599">
                <a:solidFill>
                  <a:srgbClr val="000000"/>
                </a:solidFill>
                <a:latin typeface="Quicksand"/>
                <a:ea typeface="Quicksand"/>
                <a:cs typeface="Quicksand"/>
                <a:sym typeface="Quicksand"/>
              </a:rPr>
              <a:t>Actor images, video file, dubbed audio file</a:t>
            </a:r>
          </a:p>
          <a:p>
            <a:pPr algn="ctr">
              <a:lnSpc>
                <a:spcPts val="2520"/>
              </a:lnSpc>
              <a:spcBef>
                <a:spcPct val="0"/>
              </a:spcBef>
            </a:pPr>
            <a:endParaRPr lang="en-US" sz="1599">
              <a:solidFill>
                <a:srgbClr val="000000"/>
              </a:solidFill>
              <a:latin typeface="Quicksand"/>
              <a:ea typeface="Quicksand"/>
              <a:cs typeface="Quicksand"/>
              <a:sym typeface="Quicksand"/>
            </a:endParaRPr>
          </a:p>
        </p:txBody>
      </p:sp>
      <p:sp>
        <p:nvSpPr>
          <p:cNvPr id="58" name="TextBox 58"/>
          <p:cNvSpPr txBox="1"/>
          <p:nvPr/>
        </p:nvSpPr>
        <p:spPr>
          <a:xfrm>
            <a:off x="4990995" y="2742701"/>
            <a:ext cx="3462646" cy="323712"/>
          </a:xfrm>
          <a:prstGeom prst="rect">
            <a:avLst/>
          </a:prstGeom>
        </p:spPr>
        <p:txBody>
          <a:bodyPr lIns="0" tIns="0" rIns="0" bIns="0" rtlCol="0" anchor="t">
            <a:spAutoFit/>
          </a:bodyPr>
          <a:lstStyle/>
          <a:p>
            <a:pPr algn="ctr">
              <a:lnSpc>
                <a:spcPts val="2632"/>
              </a:lnSpc>
              <a:spcBef>
                <a:spcPct val="0"/>
              </a:spcBef>
            </a:pPr>
            <a:r>
              <a:rPr lang="en-US" sz="1880" b="1">
                <a:solidFill>
                  <a:srgbClr val="000000"/>
                </a:solidFill>
                <a:latin typeface="Quicksand Bold"/>
                <a:ea typeface="Quicksand Bold"/>
                <a:cs typeface="Quicksand Bold"/>
                <a:sym typeface="Quicksand Bold"/>
              </a:rPr>
              <a:t>Speech Recognition:</a:t>
            </a:r>
          </a:p>
        </p:txBody>
      </p:sp>
      <p:sp>
        <p:nvSpPr>
          <p:cNvPr id="59" name="TextBox 59"/>
          <p:cNvSpPr txBox="1"/>
          <p:nvPr/>
        </p:nvSpPr>
        <p:spPr>
          <a:xfrm>
            <a:off x="8611462" y="2773336"/>
            <a:ext cx="3325502" cy="1485762"/>
          </a:xfrm>
          <a:prstGeom prst="rect">
            <a:avLst/>
          </a:prstGeom>
        </p:spPr>
        <p:txBody>
          <a:bodyPr lIns="0" tIns="0" rIns="0" bIns="0" rtlCol="0" anchor="t">
            <a:spAutoFit/>
          </a:bodyPr>
          <a:lstStyle/>
          <a:p>
            <a:pPr algn="ctr">
              <a:lnSpc>
                <a:spcPts val="2632"/>
              </a:lnSpc>
            </a:pPr>
            <a:r>
              <a:rPr lang="en-US" sz="1880" b="1">
                <a:solidFill>
                  <a:srgbClr val="000000"/>
                </a:solidFill>
                <a:latin typeface="Quicksand Bold"/>
                <a:ea typeface="Quicksand Bold"/>
                <a:cs typeface="Quicksand Bold"/>
                <a:sym typeface="Quicksand Bold"/>
              </a:rPr>
              <a:t>speaker identification:</a:t>
            </a:r>
          </a:p>
          <a:p>
            <a:pPr algn="ctr">
              <a:lnSpc>
                <a:spcPts val="2239"/>
              </a:lnSpc>
            </a:pPr>
            <a:r>
              <a:rPr lang="en-US" sz="1599">
                <a:solidFill>
                  <a:srgbClr val="000000"/>
                </a:solidFill>
                <a:latin typeface="Quicksand"/>
                <a:ea typeface="Quicksand"/>
                <a:cs typeface="Quicksand"/>
                <a:sym typeface="Quicksand"/>
              </a:rPr>
              <a:t>assign actor images to speaker ID and speech in each video clip that been cut before</a:t>
            </a:r>
          </a:p>
          <a:p>
            <a:pPr algn="ctr">
              <a:lnSpc>
                <a:spcPts val="2632"/>
              </a:lnSpc>
              <a:spcBef>
                <a:spcPct val="0"/>
              </a:spcBef>
            </a:pPr>
            <a:endParaRPr lang="en-US" sz="1599">
              <a:solidFill>
                <a:srgbClr val="000000"/>
              </a:solidFill>
              <a:latin typeface="Quicksand"/>
              <a:ea typeface="Quicksand"/>
              <a:cs typeface="Quicksand"/>
              <a:sym typeface="Quicksand"/>
            </a:endParaRPr>
          </a:p>
        </p:txBody>
      </p:sp>
      <p:sp>
        <p:nvSpPr>
          <p:cNvPr id="60" name="TextBox 60"/>
          <p:cNvSpPr txBox="1"/>
          <p:nvPr/>
        </p:nvSpPr>
        <p:spPr>
          <a:xfrm>
            <a:off x="12451368" y="2684797"/>
            <a:ext cx="3068819" cy="1485762"/>
          </a:xfrm>
          <a:prstGeom prst="rect">
            <a:avLst/>
          </a:prstGeom>
        </p:spPr>
        <p:txBody>
          <a:bodyPr lIns="0" tIns="0" rIns="0" bIns="0" rtlCol="0" anchor="t">
            <a:spAutoFit/>
          </a:bodyPr>
          <a:lstStyle/>
          <a:p>
            <a:pPr algn="ctr">
              <a:lnSpc>
                <a:spcPts val="2632"/>
              </a:lnSpc>
            </a:pPr>
            <a:r>
              <a:rPr lang="en-US" sz="1880" b="1">
                <a:solidFill>
                  <a:srgbClr val="000000"/>
                </a:solidFill>
                <a:latin typeface="Quicksand Bold"/>
                <a:ea typeface="Quicksand Bold"/>
                <a:cs typeface="Quicksand Bold"/>
                <a:sym typeface="Quicksand Bold"/>
              </a:rPr>
              <a:t>Lip Syncronization:</a:t>
            </a:r>
          </a:p>
          <a:p>
            <a:pPr algn="ctr">
              <a:lnSpc>
                <a:spcPts val="2239"/>
              </a:lnSpc>
            </a:pPr>
            <a:r>
              <a:rPr lang="en-US" sz="1599">
                <a:solidFill>
                  <a:srgbClr val="000000"/>
                </a:solidFill>
                <a:latin typeface="Quicksand"/>
                <a:ea typeface="Quicksand"/>
                <a:cs typeface="Quicksand"/>
                <a:sym typeface="Quicksand"/>
              </a:rPr>
              <a:t>Adjusts only the speaking actor's mouth shape during their time of speech</a:t>
            </a:r>
          </a:p>
          <a:p>
            <a:pPr algn="ctr">
              <a:lnSpc>
                <a:spcPts val="2632"/>
              </a:lnSpc>
              <a:spcBef>
                <a:spcPct val="0"/>
              </a:spcBef>
            </a:pPr>
            <a:endParaRPr lang="en-US" sz="1599">
              <a:solidFill>
                <a:srgbClr val="000000"/>
              </a:solidFill>
              <a:latin typeface="Quicksand"/>
              <a:ea typeface="Quicksand"/>
              <a:cs typeface="Quicksand"/>
              <a:sym typeface="Quicksand"/>
            </a:endParaRPr>
          </a:p>
        </p:txBody>
      </p:sp>
      <p:sp>
        <p:nvSpPr>
          <p:cNvPr id="61" name="TextBox 61"/>
          <p:cNvSpPr txBox="1"/>
          <p:nvPr/>
        </p:nvSpPr>
        <p:spPr>
          <a:xfrm>
            <a:off x="15345522" y="2712978"/>
            <a:ext cx="2767600" cy="933312"/>
          </a:xfrm>
          <a:prstGeom prst="rect">
            <a:avLst/>
          </a:prstGeom>
        </p:spPr>
        <p:txBody>
          <a:bodyPr lIns="0" tIns="0" rIns="0" bIns="0" rtlCol="0" anchor="t">
            <a:spAutoFit/>
          </a:bodyPr>
          <a:lstStyle/>
          <a:p>
            <a:pPr algn="ctr">
              <a:lnSpc>
                <a:spcPts val="2632"/>
              </a:lnSpc>
            </a:pPr>
            <a:r>
              <a:rPr lang="en-US" sz="1880" b="1">
                <a:solidFill>
                  <a:srgbClr val="000000"/>
                </a:solidFill>
                <a:latin typeface="Quicksand Bold"/>
                <a:ea typeface="Quicksand Bold"/>
                <a:cs typeface="Quicksand Bold"/>
                <a:sym typeface="Quicksand Bold"/>
              </a:rPr>
              <a:t>Output Video:</a:t>
            </a:r>
          </a:p>
          <a:p>
            <a:pPr algn="ctr">
              <a:lnSpc>
                <a:spcPts val="2239"/>
              </a:lnSpc>
            </a:pPr>
            <a:r>
              <a:rPr lang="en-US" sz="1599">
                <a:solidFill>
                  <a:srgbClr val="000000"/>
                </a:solidFill>
                <a:latin typeface="Quicksand"/>
                <a:ea typeface="Quicksand"/>
                <a:cs typeface="Quicksand"/>
                <a:sym typeface="Quicksand"/>
              </a:rPr>
              <a:t>Lip-synced videos</a:t>
            </a:r>
          </a:p>
          <a:p>
            <a:pPr algn="ctr">
              <a:lnSpc>
                <a:spcPts val="2632"/>
              </a:lnSpc>
              <a:spcBef>
                <a:spcPct val="0"/>
              </a:spcBef>
            </a:pPr>
            <a:endParaRPr lang="en-US" sz="1599">
              <a:solidFill>
                <a:srgbClr val="000000"/>
              </a:solidFill>
              <a:latin typeface="Quicksand"/>
              <a:ea typeface="Quicksand"/>
              <a:cs typeface="Quicksand"/>
              <a:sym typeface="Quicksand"/>
            </a:endParaRPr>
          </a:p>
        </p:txBody>
      </p:sp>
      <p:sp>
        <p:nvSpPr>
          <p:cNvPr id="62" name="AutoShape 62"/>
          <p:cNvSpPr/>
          <p:nvPr/>
        </p:nvSpPr>
        <p:spPr>
          <a:xfrm>
            <a:off x="1435577" y="3243922"/>
            <a:ext cx="0" cy="2574246"/>
          </a:xfrm>
          <a:prstGeom prst="line">
            <a:avLst/>
          </a:prstGeom>
          <a:ln w="19050" cap="flat">
            <a:solidFill>
              <a:srgbClr val="000000"/>
            </a:solidFill>
            <a:prstDash val="sysDot"/>
            <a:headEnd type="none" w="sm" len="sm"/>
            <a:tailEnd type="none" w="sm" len="sm"/>
          </a:ln>
        </p:spPr>
        <p:txBody>
          <a:bodyPr/>
          <a:lstStyle/>
          <a:p>
            <a:endParaRPr lang="zh-TW" altLang="en-US"/>
          </a:p>
        </p:txBody>
      </p:sp>
      <p:grpSp>
        <p:nvGrpSpPr>
          <p:cNvPr id="63" name="Group 63"/>
          <p:cNvGrpSpPr/>
          <p:nvPr/>
        </p:nvGrpSpPr>
        <p:grpSpPr>
          <a:xfrm>
            <a:off x="3597794" y="3981596"/>
            <a:ext cx="1953509" cy="684909"/>
            <a:chOff x="0" y="0"/>
            <a:chExt cx="2604678" cy="913213"/>
          </a:xfrm>
        </p:grpSpPr>
        <p:sp>
          <p:nvSpPr>
            <p:cNvPr id="64" name="AutoShape 64"/>
            <p:cNvSpPr/>
            <p:nvPr/>
          </p:nvSpPr>
          <p:spPr>
            <a:xfrm flipH="1">
              <a:off x="19050" y="0"/>
              <a:ext cx="0" cy="894163"/>
            </a:xfrm>
            <a:prstGeom prst="line">
              <a:avLst/>
            </a:prstGeom>
            <a:ln w="38100" cap="flat">
              <a:solidFill>
                <a:srgbClr val="000000"/>
              </a:solidFill>
              <a:prstDash val="sysDot"/>
              <a:headEnd type="none" w="sm" len="sm"/>
              <a:tailEnd type="none" w="sm" len="sm"/>
            </a:ln>
          </p:spPr>
          <p:txBody>
            <a:bodyPr/>
            <a:lstStyle/>
            <a:p>
              <a:endParaRPr lang="zh-TW" altLang="en-US"/>
            </a:p>
          </p:txBody>
        </p:sp>
        <p:sp>
          <p:nvSpPr>
            <p:cNvPr id="65" name="AutoShape 65"/>
            <p:cNvSpPr/>
            <p:nvPr/>
          </p:nvSpPr>
          <p:spPr>
            <a:xfrm>
              <a:off x="35974" y="894163"/>
              <a:ext cx="2568704" cy="0"/>
            </a:xfrm>
            <a:prstGeom prst="line">
              <a:avLst/>
            </a:prstGeom>
            <a:ln w="38100" cap="flat">
              <a:solidFill>
                <a:srgbClr val="000000"/>
              </a:solidFill>
              <a:prstDash val="sysDot"/>
              <a:headEnd type="none" w="sm" len="sm"/>
              <a:tailEnd type="none" w="sm" len="sm"/>
            </a:ln>
          </p:spPr>
          <p:txBody>
            <a:bodyPr/>
            <a:lstStyle/>
            <a:p>
              <a:endParaRPr lang="zh-TW" altLang="en-US"/>
            </a:p>
          </p:txBody>
        </p:sp>
      </p:grpSp>
      <p:grpSp>
        <p:nvGrpSpPr>
          <p:cNvPr id="66" name="Group 66"/>
          <p:cNvGrpSpPr/>
          <p:nvPr/>
        </p:nvGrpSpPr>
        <p:grpSpPr>
          <a:xfrm>
            <a:off x="10499321" y="3973415"/>
            <a:ext cx="2722657" cy="1445773"/>
            <a:chOff x="0" y="0"/>
            <a:chExt cx="3630210" cy="1927698"/>
          </a:xfrm>
        </p:grpSpPr>
        <p:sp>
          <p:nvSpPr>
            <p:cNvPr id="67" name="AutoShape 67"/>
            <p:cNvSpPr/>
            <p:nvPr/>
          </p:nvSpPr>
          <p:spPr>
            <a:xfrm flipH="1">
              <a:off x="16762" y="0"/>
              <a:ext cx="0" cy="459331"/>
            </a:xfrm>
            <a:prstGeom prst="line">
              <a:avLst/>
            </a:prstGeom>
            <a:ln w="33523" cap="flat">
              <a:solidFill>
                <a:srgbClr val="000000"/>
              </a:solidFill>
              <a:prstDash val="sysDot"/>
              <a:headEnd type="none" w="sm" len="sm"/>
              <a:tailEnd type="none" w="sm" len="sm"/>
            </a:ln>
          </p:spPr>
          <p:txBody>
            <a:bodyPr/>
            <a:lstStyle/>
            <a:p>
              <a:endParaRPr lang="zh-TW" altLang="en-US"/>
            </a:p>
          </p:txBody>
        </p:sp>
        <p:sp>
          <p:nvSpPr>
            <p:cNvPr id="68" name="AutoShape 68"/>
            <p:cNvSpPr/>
            <p:nvPr/>
          </p:nvSpPr>
          <p:spPr>
            <a:xfrm>
              <a:off x="40414" y="459331"/>
              <a:ext cx="3589796" cy="0"/>
            </a:xfrm>
            <a:prstGeom prst="line">
              <a:avLst/>
            </a:prstGeom>
            <a:ln w="33523" cap="flat">
              <a:solidFill>
                <a:srgbClr val="000000"/>
              </a:solidFill>
              <a:prstDash val="sysDot"/>
              <a:headEnd type="none" w="sm" len="sm"/>
              <a:tailEnd type="none" w="sm" len="sm"/>
            </a:ln>
          </p:spPr>
          <p:txBody>
            <a:bodyPr/>
            <a:lstStyle/>
            <a:p>
              <a:endParaRPr lang="zh-TW" altLang="en-US"/>
            </a:p>
          </p:txBody>
        </p:sp>
        <p:sp>
          <p:nvSpPr>
            <p:cNvPr id="69" name="AutoShape 69"/>
            <p:cNvSpPr/>
            <p:nvPr/>
          </p:nvSpPr>
          <p:spPr>
            <a:xfrm flipH="1">
              <a:off x="3601462" y="450926"/>
              <a:ext cx="0" cy="1460010"/>
            </a:xfrm>
            <a:prstGeom prst="line">
              <a:avLst/>
            </a:prstGeom>
            <a:ln w="33523" cap="flat">
              <a:solidFill>
                <a:srgbClr val="000000"/>
              </a:solidFill>
              <a:prstDash val="sysDot"/>
              <a:headEnd type="none" w="sm" len="sm"/>
              <a:tailEnd type="none" w="sm" len="sm"/>
            </a:ln>
          </p:spPr>
          <p:txBody>
            <a:bodyPr/>
            <a:lstStyle/>
            <a:p>
              <a:endParaRPr lang="zh-TW" altLang="en-US"/>
            </a:p>
          </p:txBody>
        </p:sp>
        <p:sp>
          <p:nvSpPr>
            <p:cNvPr id="70" name="AutoShape 70"/>
            <p:cNvSpPr/>
            <p:nvPr/>
          </p:nvSpPr>
          <p:spPr>
            <a:xfrm>
              <a:off x="3028399" y="1910936"/>
              <a:ext cx="573062" cy="0"/>
            </a:xfrm>
            <a:prstGeom prst="line">
              <a:avLst/>
            </a:prstGeom>
            <a:ln w="33523" cap="flat">
              <a:solidFill>
                <a:srgbClr val="000000"/>
              </a:solidFill>
              <a:prstDash val="sysDot"/>
              <a:headEnd type="none" w="sm" len="sm"/>
              <a:tailEnd type="none" w="sm" len="sm"/>
            </a:ln>
          </p:spPr>
          <p:txBody>
            <a:bodyPr/>
            <a:lstStyle/>
            <a:p>
              <a:endParaRPr lang="zh-TW" altLang="en-US"/>
            </a:p>
          </p:txBody>
        </p:sp>
      </p:grpSp>
      <p:grpSp>
        <p:nvGrpSpPr>
          <p:cNvPr id="71" name="Group 71"/>
          <p:cNvGrpSpPr/>
          <p:nvPr/>
        </p:nvGrpSpPr>
        <p:grpSpPr>
          <a:xfrm>
            <a:off x="17026722" y="3462473"/>
            <a:ext cx="314282" cy="1615213"/>
            <a:chOff x="0" y="0"/>
            <a:chExt cx="419043" cy="2153617"/>
          </a:xfrm>
        </p:grpSpPr>
        <p:sp>
          <p:nvSpPr>
            <p:cNvPr id="72" name="AutoShape 72"/>
            <p:cNvSpPr/>
            <p:nvPr/>
          </p:nvSpPr>
          <p:spPr>
            <a:xfrm flipH="1" flipV="1">
              <a:off x="402281" y="0"/>
              <a:ext cx="0" cy="2120856"/>
            </a:xfrm>
            <a:prstGeom prst="line">
              <a:avLst/>
            </a:prstGeom>
            <a:ln w="33523" cap="flat">
              <a:solidFill>
                <a:srgbClr val="000000"/>
              </a:solidFill>
              <a:prstDash val="sysDot"/>
              <a:headEnd type="none" w="sm" len="sm"/>
              <a:tailEnd type="none" w="sm" len="sm"/>
            </a:ln>
          </p:spPr>
          <p:txBody>
            <a:bodyPr/>
            <a:lstStyle/>
            <a:p>
              <a:endParaRPr lang="zh-TW" altLang="en-US"/>
            </a:p>
          </p:txBody>
        </p:sp>
        <p:sp>
          <p:nvSpPr>
            <p:cNvPr id="73" name="AutoShape 73"/>
            <p:cNvSpPr/>
            <p:nvPr/>
          </p:nvSpPr>
          <p:spPr>
            <a:xfrm>
              <a:off x="0" y="2136855"/>
              <a:ext cx="402281" cy="0"/>
            </a:xfrm>
            <a:prstGeom prst="line">
              <a:avLst/>
            </a:prstGeom>
            <a:ln w="33523" cap="flat">
              <a:solidFill>
                <a:srgbClr val="000000"/>
              </a:solidFill>
              <a:prstDash val="sysDot"/>
              <a:headEnd type="none" w="sm" len="sm"/>
              <a:tailEnd type="none" w="sm" len="sm"/>
            </a:ln>
          </p:spPr>
          <p:txBody>
            <a:bodyPr/>
            <a:lstStyle/>
            <a:p>
              <a:endParaRPr lang="zh-TW" altLang="en-US"/>
            </a:p>
          </p:txBody>
        </p:sp>
      </p:grpSp>
      <p:sp>
        <p:nvSpPr>
          <p:cNvPr id="74" name="TextBox 74"/>
          <p:cNvSpPr txBox="1"/>
          <p:nvPr/>
        </p:nvSpPr>
        <p:spPr>
          <a:xfrm>
            <a:off x="5665603" y="4408544"/>
            <a:ext cx="403874" cy="381792"/>
          </a:xfrm>
          <a:prstGeom prst="rect">
            <a:avLst/>
          </a:prstGeom>
        </p:spPr>
        <p:txBody>
          <a:bodyPr lIns="0" tIns="0" rIns="0" bIns="0" rtlCol="0" anchor="t">
            <a:spAutoFit/>
          </a:bodyPr>
          <a:lstStyle/>
          <a:p>
            <a:pPr algn="just">
              <a:lnSpc>
                <a:spcPts val="3106"/>
              </a:lnSpc>
              <a:spcBef>
                <a:spcPct val="0"/>
              </a:spcBef>
            </a:pPr>
            <a:r>
              <a:rPr lang="en-US" sz="2218">
                <a:solidFill>
                  <a:srgbClr val="000000"/>
                </a:solidFill>
                <a:latin typeface="Quicksand"/>
                <a:ea typeface="Quicksand"/>
                <a:cs typeface="Quicksand"/>
                <a:sym typeface="Quicksand"/>
              </a:rPr>
              <a:t>(1)</a:t>
            </a:r>
          </a:p>
        </p:txBody>
      </p:sp>
      <p:sp>
        <p:nvSpPr>
          <p:cNvPr id="75" name="TextBox 75"/>
          <p:cNvSpPr txBox="1"/>
          <p:nvPr/>
        </p:nvSpPr>
        <p:spPr>
          <a:xfrm>
            <a:off x="5697554" y="5880898"/>
            <a:ext cx="403874" cy="381792"/>
          </a:xfrm>
          <a:prstGeom prst="rect">
            <a:avLst/>
          </a:prstGeom>
        </p:spPr>
        <p:txBody>
          <a:bodyPr lIns="0" tIns="0" rIns="0" bIns="0" rtlCol="0" anchor="t">
            <a:spAutoFit/>
          </a:bodyPr>
          <a:lstStyle/>
          <a:p>
            <a:pPr algn="just">
              <a:lnSpc>
                <a:spcPts val="3106"/>
              </a:lnSpc>
              <a:spcBef>
                <a:spcPct val="0"/>
              </a:spcBef>
            </a:pPr>
            <a:r>
              <a:rPr lang="en-US" sz="2218">
                <a:solidFill>
                  <a:srgbClr val="000000"/>
                </a:solidFill>
                <a:latin typeface="Quicksand"/>
                <a:ea typeface="Quicksand"/>
                <a:cs typeface="Quicksand"/>
                <a:sym typeface="Quicksand"/>
              </a:rPr>
              <a:t>(2)</a:t>
            </a:r>
          </a:p>
        </p:txBody>
      </p:sp>
      <p:sp>
        <p:nvSpPr>
          <p:cNvPr id="76" name="TextBox 76"/>
          <p:cNvSpPr txBox="1"/>
          <p:nvPr/>
        </p:nvSpPr>
        <p:spPr>
          <a:xfrm>
            <a:off x="5697554" y="7046885"/>
            <a:ext cx="403874" cy="381792"/>
          </a:xfrm>
          <a:prstGeom prst="rect">
            <a:avLst/>
          </a:prstGeom>
        </p:spPr>
        <p:txBody>
          <a:bodyPr lIns="0" tIns="0" rIns="0" bIns="0" rtlCol="0" anchor="t">
            <a:spAutoFit/>
          </a:bodyPr>
          <a:lstStyle/>
          <a:p>
            <a:pPr algn="just">
              <a:lnSpc>
                <a:spcPts val="3106"/>
              </a:lnSpc>
              <a:spcBef>
                <a:spcPct val="0"/>
              </a:spcBef>
            </a:pPr>
            <a:r>
              <a:rPr lang="en-US" sz="2218">
                <a:solidFill>
                  <a:srgbClr val="000000"/>
                </a:solidFill>
                <a:latin typeface="Quicksand"/>
                <a:ea typeface="Quicksand"/>
                <a:cs typeface="Quicksand"/>
                <a:sym typeface="Quicksand"/>
              </a:rPr>
              <a:t>(3)</a:t>
            </a:r>
          </a:p>
        </p:txBody>
      </p:sp>
      <p:sp>
        <p:nvSpPr>
          <p:cNvPr id="77" name="TextBox 77"/>
          <p:cNvSpPr txBox="1"/>
          <p:nvPr/>
        </p:nvSpPr>
        <p:spPr>
          <a:xfrm>
            <a:off x="9664225" y="4427734"/>
            <a:ext cx="403358" cy="381864"/>
          </a:xfrm>
          <a:prstGeom prst="rect">
            <a:avLst/>
          </a:prstGeom>
        </p:spPr>
        <p:txBody>
          <a:bodyPr lIns="0" tIns="0" rIns="0" bIns="0" rtlCol="0" anchor="t">
            <a:spAutoFit/>
          </a:bodyPr>
          <a:lstStyle/>
          <a:p>
            <a:pPr algn="just">
              <a:lnSpc>
                <a:spcPts val="3102"/>
              </a:lnSpc>
              <a:spcBef>
                <a:spcPct val="0"/>
              </a:spcBef>
            </a:pPr>
            <a:r>
              <a:rPr lang="en-US" sz="2216">
                <a:solidFill>
                  <a:srgbClr val="000000"/>
                </a:solidFill>
                <a:latin typeface="Quicksand"/>
                <a:ea typeface="Quicksand"/>
                <a:cs typeface="Quicksand"/>
                <a:sym typeface="Quicksand"/>
              </a:rPr>
              <a:t>(5)</a:t>
            </a:r>
          </a:p>
        </p:txBody>
      </p:sp>
      <p:sp>
        <p:nvSpPr>
          <p:cNvPr id="78" name="TextBox 78"/>
          <p:cNvSpPr txBox="1"/>
          <p:nvPr/>
        </p:nvSpPr>
        <p:spPr>
          <a:xfrm>
            <a:off x="9664225" y="6230298"/>
            <a:ext cx="403358" cy="381864"/>
          </a:xfrm>
          <a:prstGeom prst="rect">
            <a:avLst/>
          </a:prstGeom>
        </p:spPr>
        <p:txBody>
          <a:bodyPr lIns="0" tIns="0" rIns="0" bIns="0" rtlCol="0" anchor="t">
            <a:spAutoFit/>
          </a:bodyPr>
          <a:lstStyle/>
          <a:p>
            <a:pPr algn="just">
              <a:lnSpc>
                <a:spcPts val="3102"/>
              </a:lnSpc>
              <a:spcBef>
                <a:spcPct val="0"/>
              </a:spcBef>
            </a:pPr>
            <a:r>
              <a:rPr lang="en-US" sz="2216">
                <a:solidFill>
                  <a:srgbClr val="000000"/>
                </a:solidFill>
                <a:latin typeface="Quicksand"/>
                <a:ea typeface="Quicksand"/>
                <a:cs typeface="Quicksand"/>
                <a:sym typeface="Quicksand"/>
              </a:rPr>
              <a:t>(6)</a:t>
            </a:r>
          </a:p>
        </p:txBody>
      </p:sp>
      <p:sp>
        <p:nvSpPr>
          <p:cNvPr id="79" name="TextBox 79"/>
          <p:cNvSpPr txBox="1"/>
          <p:nvPr/>
        </p:nvSpPr>
        <p:spPr>
          <a:xfrm>
            <a:off x="9686216" y="7365296"/>
            <a:ext cx="403358" cy="381864"/>
          </a:xfrm>
          <a:prstGeom prst="rect">
            <a:avLst/>
          </a:prstGeom>
        </p:spPr>
        <p:txBody>
          <a:bodyPr lIns="0" tIns="0" rIns="0" bIns="0" rtlCol="0" anchor="t">
            <a:spAutoFit/>
          </a:bodyPr>
          <a:lstStyle/>
          <a:p>
            <a:pPr algn="just">
              <a:lnSpc>
                <a:spcPts val="3102"/>
              </a:lnSpc>
              <a:spcBef>
                <a:spcPct val="0"/>
              </a:spcBef>
            </a:pPr>
            <a:r>
              <a:rPr lang="en-US" sz="2216">
                <a:solidFill>
                  <a:srgbClr val="000000"/>
                </a:solidFill>
                <a:latin typeface="Quicksand"/>
                <a:ea typeface="Quicksand"/>
                <a:cs typeface="Quicksand"/>
                <a:sym typeface="Quicksand"/>
              </a:rPr>
              <a:t>(7)</a:t>
            </a:r>
          </a:p>
        </p:txBody>
      </p:sp>
      <p:sp>
        <p:nvSpPr>
          <p:cNvPr id="80" name="TextBox 80"/>
          <p:cNvSpPr txBox="1"/>
          <p:nvPr/>
        </p:nvSpPr>
        <p:spPr>
          <a:xfrm>
            <a:off x="13818534" y="4437259"/>
            <a:ext cx="402154" cy="372506"/>
          </a:xfrm>
          <a:prstGeom prst="rect">
            <a:avLst/>
          </a:prstGeom>
        </p:spPr>
        <p:txBody>
          <a:bodyPr lIns="0" tIns="0" rIns="0" bIns="0" rtlCol="0" anchor="t">
            <a:spAutoFit/>
          </a:bodyPr>
          <a:lstStyle/>
          <a:p>
            <a:pPr algn="just">
              <a:lnSpc>
                <a:spcPts val="3093"/>
              </a:lnSpc>
              <a:spcBef>
                <a:spcPct val="0"/>
              </a:spcBef>
            </a:pPr>
            <a:r>
              <a:rPr lang="en-US" sz="2209">
                <a:solidFill>
                  <a:srgbClr val="000000"/>
                </a:solidFill>
                <a:latin typeface="Quicksand"/>
                <a:ea typeface="Quicksand"/>
                <a:cs typeface="Quicksand"/>
                <a:sym typeface="Quicksand"/>
              </a:rPr>
              <a:t>(9)</a:t>
            </a:r>
          </a:p>
        </p:txBody>
      </p:sp>
      <p:sp>
        <p:nvSpPr>
          <p:cNvPr id="81" name="TextBox 81"/>
          <p:cNvSpPr txBox="1"/>
          <p:nvPr/>
        </p:nvSpPr>
        <p:spPr>
          <a:xfrm>
            <a:off x="4784226" y="3101570"/>
            <a:ext cx="3537174" cy="834767"/>
          </a:xfrm>
          <a:prstGeom prst="rect">
            <a:avLst/>
          </a:prstGeom>
        </p:spPr>
        <p:txBody>
          <a:bodyPr lIns="0" tIns="0" rIns="0" bIns="0" rtlCol="0" anchor="t">
            <a:spAutoFit/>
          </a:bodyPr>
          <a:lstStyle/>
          <a:p>
            <a:pPr algn="ctr">
              <a:lnSpc>
                <a:spcPts val="2289"/>
              </a:lnSpc>
              <a:spcBef>
                <a:spcPct val="0"/>
              </a:spcBef>
            </a:pPr>
            <a:r>
              <a:rPr lang="en-US" sz="1635">
                <a:solidFill>
                  <a:srgbClr val="000000"/>
                </a:solidFill>
                <a:latin typeface="Quicksand"/>
                <a:ea typeface="Quicksand"/>
                <a:cs typeface="Quicksand"/>
                <a:sym typeface="Quicksand"/>
              </a:rPr>
              <a:t>Using Faster-whisper + NeMo to transcribing audio to text, label speaker and generate timestamp</a:t>
            </a:r>
          </a:p>
        </p:txBody>
      </p:sp>
      <p:sp>
        <p:nvSpPr>
          <p:cNvPr id="82" name="TextBox 82"/>
          <p:cNvSpPr txBox="1"/>
          <p:nvPr/>
        </p:nvSpPr>
        <p:spPr>
          <a:xfrm>
            <a:off x="1841226" y="8749835"/>
            <a:ext cx="1678220" cy="256723"/>
          </a:xfrm>
          <a:prstGeom prst="rect">
            <a:avLst/>
          </a:prstGeom>
        </p:spPr>
        <p:txBody>
          <a:bodyPr lIns="0" tIns="0" rIns="0" bIns="0" rtlCol="0" anchor="t">
            <a:spAutoFit/>
          </a:bodyPr>
          <a:lstStyle/>
          <a:p>
            <a:pPr algn="ctr">
              <a:lnSpc>
                <a:spcPts val="2124"/>
              </a:lnSpc>
              <a:spcBef>
                <a:spcPct val="0"/>
              </a:spcBef>
            </a:pPr>
            <a:r>
              <a:rPr lang="en-US" sz="1517" b="1">
                <a:solidFill>
                  <a:srgbClr val="000000"/>
                </a:solidFill>
                <a:latin typeface="Quicksand Bold"/>
                <a:ea typeface="Quicksand Bold"/>
                <a:cs typeface="Quicksand Bold"/>
                <a:sym typeface="Quicksand Bold"/>
              </a:rPr>
              <a:t>Interface</a:t>
            </a:r>
          </a:p>
        </p:txBody>
      </p:sp>
      <p:grpSp>
        <p:nvGrpSpPr>
          <p:cNvPr id="83" name="Group 83"/>
          <p:cNvGrpSpPr/>
          <p:nvPr/>
        </p:nvGrpSpPr>
        <p:grpSpPr>
          <a:xfrm>
            <a:off x="7008386" y="4000646"/>
            <a:ext cx="2227214" cy="2444407"/>
            <a:chOff x="0" y="0"/>
            <a:chExt cx="2969619" cy="3259209"/>
          </a:xfrm>
        </p:grpSpPr>
        <p:sp>
          <p:nvSpPr>
            <p:cNvPr id="84" name="AutoShape 84"/>
            <p:cNvSpPr/>
            <p:nvPr/>
          </p:nvSpPr>
          <p:spPr>
            <a:xfrm flipH="1">
              <a:off x="19050" y="0"/>
              <a:ext cx="0" cy="453225"/>
            </a:xfrm>
            <a:prstGeom prst="line">
              <a:avLst/>
            </a:prstGeom>
            <a:ln w="38100" cap="flat">
              <a:solidFill>
                <a:srgbClr val="000000"/>
              </a:solidFill>
              <a:prstDash val="sysDot"/>
              <a:headEnd type="none" w="sm" len="sm"/>
              <a:tailEnd type="none" w="sm" len="sm"/>
            </a:ln>
          </p:spPr>
          <p:txBody>
            <a:bodyPr/>
            <a:lstStyle/>
            <a:p>
              <a:endParaRPr lang="zh-TW" altLang="en-US"/>
            </a:p>
          </p:txBody>
        </p:sp>
        <p:sp>
          <p:nvSpPr>
            <p:cNvPr id="85" name="AutoShape 85"/>
            <p:cNvSpPr/>
            <p:nvPr/>
          </p:nvSpPr>
          <p:spPr>
            <a:xfrm>
              <a:off x="38363" y="453225"/>
              <a:ext cx="2931256" cy="0"/>
            </a:xfrm>
            <a:prstGeom prst="line">
              <a:avLst/>
            </a:prstGeom>
            <a:ln w="38100" cap="flat">
              <a:solidFill>
                <a:srgbClr val="000000"/>
              </a:solidFill>
              <a:prstDash val="sysDot"/>
              <a:headEnd type="none" w="sm" len="sm"/>
              <a:tailEnd type="none" w="sm" len="sm"/>
            </a:ln>
          </p:spPr>
          <p:txBody>
            <a:bodyPr/>
            <a:lstStyle/>
            <a:p>
              <a:endParaRPr lang="zh-TW" altLang="en-US"/>
            </a:p>
          </p:txBody>
        </p:sp>
        <p:sp>
          <p:nvSpPr>
            <p:cNvPr id="86" name="AutoShape 86"/>
            <p:cNvSpPr/>
            <p:nvPr/>
          </p:nvSpPr>
          <p:spPr>
            <a:xfrm>
              <a:off x="2946145" y="444931"/>
              <a:ext cx="0" cy="2798153"/>
            </a:xfrm>
            <a:prstGeom prst="line">
              <a:avLst/>
            </a:prstGeom>
            <a:ln w="38100" cap="flat">
              <a:solidFill>
                <a:srgbClr val="000000"/>
              </a:solidFill>
              <a:prstDash val="sysDot"/>
              <a:headEnd type="none" w="sm" len="sm"/>
              <a:tailEnd type="none" w="sm" len="sm"/>
            </a:ln>
          </p:spPr>
          <p:txBody>
            <a:bodyPr/>
            <a:lstStyle/>
            <a:p>
              <a:endParaRPr lang="zh-TW" altLang="en-US"/>
            </a:p>
          </p:txBody>
        </p:sp>
        <p:sp>
          <p:nvSpPr>
            <p:cNvPr id="87" name="AutoShape 87"/>
            <p:cNvSpPr/>
            <p:nvPr/>
          </p:nvSpPr>
          <p:spPr>
            <a:xfrm>
              <a:off x="2489474" y="3240159"/>
              <a:ext cx="480145" cy="0"/>
            </a:xfrm>
            <a:prstGeom prst="line">
              <a:avLst/>
            </a:prstGeom>
            <a:ln w="38100" cap="flat">
              <a:solidFill>
                <a:srgbClr val="000000"/>
              </a:solidFill>
              <a:prstDash val="sysDot"/>
              <a:headEnd type="none" w="sm" len="sm"/>
              <a:tailEnd type="none" w="sm" len="sm"/>
            </a:ln>
          </p:spPr>
          <p:txBody>
            <a:bodyPr/>
            <a:lstStyle/>
            <a:p>
              <a:endParaRPr lang="zh-TW" altLang="en-US"/>
            </a:p>
          </p:txBody>
        </p:sp>
      </p:grpSp>
      <p:sp>
        <p:nvSpPr>
          <p:cNvPr id="88" name="TextBox 88"/>
          <p:cNvSpPr txBox="1"/>
          <p:nvPr/>
        </p:nvSpPr>
        <p:spPr>
          <a:xfrm>
            <a:off x="6134333" y="8982677"/>
            <a:ext cx="2561927" cy="1102360"/>
          </a:xfrm>
          <a:prstGeom prst="rect">
            <a:avLst/>
          </a:prstGeom>
        </p:spPr>
        <p:txBody>
          <a:bodyPr lIns="0" tIns="0" rIns="0" bIns="0" rtlCol="0" anchor="t">
            <a:spAutoFit/>
          </a:bodyPr>
          <a:lstStyle/>
          <a:p>
            <a:pPr algn="l">
              <a:lnSpc>
                <a:spcPts val="2239"/>
              </a:lnSpc>
              <a:spcBef>
                <a:spcPct val="0"/>
              </a:spcBef>
            </a:pPr>
            <a:r>
              <a:rPr lang="en-US" sz="1599">
                <a:solidFill>
                  <a:srgbClr val="000000"/>
                </a:solidFill>
                <a:latin typeface="Quicksand"/>
                <a:ea typeface="Quicksand"/>
                <a:cs typeface="Quicksand"/>
                <a:sym typeface="Quicksand"/>
              </a:rPr>
              <a:t>(1) upload video movie file, </a:t>
            </a:r>
          </a:p>
          <a:p>
            <a:pPr algn="l">
              <a:lnSpc>
                <a:spcPts val="2239"/>
              </a:lnSpc>
              <a:spcBef>
                <a:spcPct val="0"/>
              </a:spcBef>
            </a:pPr>
            <a:r>
              <a:rPr lang="en-US" sz="1599">
                <a:solidFill>
                  <a:srgbClr val="000000"/>
                </a:solidFill>
                <a:latin typeface="Quicksand"/>
                <a:ea typeface="Quicksand"/>
                <a:cs typeface="Quicksand"/>
                <a:sym typeface="Quicksand"/>
              </a:rPr>
              <a:t>(2) upload audio dubbing, </a:t>
            </a:r>
          </a:p>
          <a:p>
            <a:pPr algn="l">
              <a:lnSpc>
                <a:spcPts val="2239"/>
              </a:lnSpc>
              <a:spcBef>
                <a:spcPct val="0"/>
              </a:spcBef>
            </a:pPr>
            <a:r>
              <a:rPr lang="en-US" sz="1599">
                <a:solidFill>
                  <a:srgbClr val="000000"/>
                </a:solidFill>
                <a:latin typeface="Quicksand"/>
                <a:ea typeface="Quicksand"/>
                <a:cs typeface="Quicksand"/>
                <a:sym typeface="Quicksand"/>
              </a:rPr>
              <a:t>(3) upload actor images,</a:t>
            </a:r>
          </a:p>
          <a:p>
            <a:pPr algn="l">
              <a:lnSpc>
                <a:spcPts val="2239"/>
              </a:lnSpc>
              <a:spcBef>
                <a:spcPct val="0"/>
              </a:spcBef>
            </a:pPr>
            <a:r>
              <a:rPr lang="en-US" sz="1599">
                <a:solidFill>
                  <a:srgbClr val="000000"/>
                </a:solidFill>
                <a:latin typeface="Quicksand"/>
                <a:ea typeface="Quicksand"/>
                <a:cs typeface="Quicksand"/>
                <a:sym typeface="Quicksand"/>
              </a:rPr>
              <a:t>(4) Click ‘submit’ button</a:t>
            </a:r>
          </a:p>
        </p:txBody>
      </p:sp>
      <p:sp>
        <p:nvSpPr>
          <p:cNvPr id="89" name="TextBox 89"/>
          <p:cNvSpPr txBox="1"/>
          <p:nvPr/>
        </p:nvSpPr>
        <p:spPr>
          <a:xfrm>
            <a:off x="10011726" y="8996111"/>
            <a:ext cx="3807298" cy="1102360"/>
          </a:xfrm>
          <a:prstGeom prst="rect">
            <a:avLst/>
          </a:prstGeom>
        </p:spPr>
        <p:txBody>
          <a:bodyPr lIns="0" tIns="0" rIns="0" bIns="0" rtlCol="0" anchor="t">
            <a:spAutoFit/>
          </a:bodyPr>
          <a:lstStyle/>
          <a:p>
            <a:pPr algn="just">
              <a:lnSpc>
                <a:spcPts val="2239"/>
              </a:lnSpc>
            </a:pPr>
            <a:r>
              <a:rPr lang="en-US" sz="1599">
                <a:solidFill>
                  <a:srgbClr val="000000"/>
                </a:solidFill>
                <a:latin typeface="Quicksand"/>
                <a:ea typeface="Quicksand"/>
                <a:cs typeface="Quicksand"/>
                <a:sym typeface="Quicksand"/>
              </a:rPr>
              <a:t>(5) Generated script, edit if necessary</a:t>
            </a:r>
          </a:p>
          <a:p>
            <a:pPr algn="just">
              <a:lnSpc>
                <a:spcPts val="2239"/>
              </a:lnSpc>
            </a:pPr>
            <a:r>
              <a:rPr lang="en-US" sz="1599">
                <a:solidFill>
                  <a:srgbClr val="000000"/>
                </a:solidFill>
                <a:latin typeface="Quicksand"/>
                <a:ea typeface="Quicksand"/>
                <a:cs typeface="Quicksand"/>
                <a:sym typeface="Quicksand"/>
              </a:rPr>
              <a:t>(6) Confirm the script generated</a:t>
            </a:r>
          </a:p>
          <a:p>
            <a:pPr algn="just">
              <a:lnSpc>
                <a:spcPts val="2239"/>
              </a:lnSpc>
            </a:pPr>
            <a:r>
              <a:rPr lang="en-US" sz="1599">
                <a:solidFill>
                  <a:srgbClr val="000000"/>
                </a:solidFill>
                <a:latin typeface="Quicksand"/>
                <a:ea typeface="Quicksand"/>
                <a:cs typeface="Quicksand"/>
                <a:sym typeface="Quicksand"/>
              </a:rPr>
              <a:t>(7) Assign the actor image to speaker</a:t>
            </a:r>
          </a:p>
          <a:p>
            <a:pPr algn="just">
              <a:lnSpc>
                <a:spcPts val="2239"/>
              </a:lnSpc>
              <a:spcBef>
                <a:spcPct val="0"/>
              </a:spcBef>
            </a:pPr>
            <a:r>
              <a:rPr lang="en-US" sz="1599">
                <a:solidFill>
                  <a:srgbClr val="000000"/>
                </a:solidFill>
                <a:latin typeface="Quicksand"/>
                <a:ea typeface="Quicksand"/>
                <a:cs typeface="Quicksand"/>
                <a:sym typeface="Quicksand"/>
              </a:rPr>
              <a:t>(8) Click ‘finalize’ button</a:t>
            </a:r>
          </a:p>
        </p:txBody>
      </p:sp>
      <p:sp>
        <p:nvSpPr>
          <p:cNvPr id="90" name="TextBox 90"/>
          <p:cNvSpPr txBox="1"/>
          <p:nvPr/>
        </p:nvSpPr>
        <p:spPr>
          <a:xfrm>
            <a:off x="14258789" y="8982677"/>
            <a:ext cx="3807298" cy="549910"/>
          </a:xfrm>
          <a:prstGeom prst="rect">
            <a:avLst/>
          </a:prstGeom>
        </p:spPr>
        <p:txBody>
          <a:bodyPr lIns="0" tIns="0" rIns="0" bIns="0" rtlCol="0" anchor="t">
            <a:spAutoFit/>
          </a:bodyPr>
          <a:lstStyle/>
          <a:p>
            <a:pPr algn="just">
              <a:lnSpc>
                <a:spcPts val="2239"/>
              </a:lnSpc>
            </a:pPr>
            <a:r>
              <a:rPr lang="en-US" sz="1599">
                <a:solidFill>
                  <a:srgbClr val="000000"/>
                </a:solidFill>
                <a:latin typeface="Quicksand"/>
                <a:ea typeface="Quicksand"/>
                <a:cs typeface="Quicksand"/>
                <a:sym typeface="Quicksand"/>
              </a:rPr>
              <a:t>(9) Output video</a:t>
            </a:r>
          </a:p>
          <a:p>
            <a:pPr algn="just">
              <a:lnSpc>
                <a:spcPts val="2239"/>
              </a:lnSpc>
              <a:spcBef>
                <a:spcPct val="0"/>
              </a:spcBef>
            </a:pPr>
            <a:endParaRPr lang="en-US" sz="1599">
              <a:solidFill>
                <a:srgbClr val="000000"/>
              </a:solidFill>
              <a:latin typeface="Quicksand"/>
              <a:ea typeface="Quicksand"/>
              <a:cs typeface="Quicksand"/>
              <a:sym typeface="Quicksand"/>
            </a:endParaRPr>
          </a:p>
        </p:txBody>
      </p:sp>
      <p:grpSp>
        <p:nvGrpSpPr>
          <p:cNvPr id="91" name="Group 91"/>
          <p:cNvGrpSpPr/>
          <p:nvPr/>
        </p:nvGrpSpPr>
        <p:grpSpPr>
          <a:xfrm>
            <a:off x="5531507" y="278004"/>
            <a:ext cx="7232285" cy="1170876"/>
            <a:chOff x="0" y="0"/>
            <a:chExt cx="2574987" cy="416879"/>
          </a:xfrm>
        </p:grpSpPr>
        <p:sp>
          <p:nvSpPr>
            <p:cNvPr id="92" name="Freeform 92"/>
            <p:cNvSpPr/>
            <p:nvPr/>
          </p:nvSpPr>
          <p:spPr>
            <a:xfrm>
              <a:off x="0" y="0"/>
              <a:ext cx="2574987" cy="416879"/>
            </a:xfrm>
            <a:custGeom>
              <a:avLst/>
              <a:gdLst/>
              <a:ahLst/>
              <a:cxnLst/>
              <a:rect l="l" t="t" r="r" b="b"/>
              <a:pathLst>
                <a:path w="2574987" h="416879">
                  <a:moveTo>
                    <a:pt x="54594" y="0"/>
                  </a:moveTo>
                  <a:lnTo>
                    <a:pt x="2520393" y="0"/>
                  </a:lnTo>
                  <a:cubicBezTo>
                    <a:pt x="2534873" y="0"/>
                    <a:pt x="2548759" y="5752"/>
                    <a:pt x="2558997" y="15990"/>
                  </a:cubicBezTo>
                  <a:cubicBezTo>
                    <a:pt x="2569235" y="26228"/>
                    <a:pt x="2574987" y="40115"/>
                    <a:pt x="2574987" y="54594"/>
                  </a:cubicBezTo>
                  <a:lnTo>
                    <a:pt x="2574987" y="362286"/>
                  </a:lnTo>
                  <a:cubicBezTo>
                    <a:pt x="2574987" y="376765"/>
                    <a:pt x="2569235" y="390651"/>
                    <a:pt x="2558997" y="400889"/>
                  </a:cubicBezTo>
                  <a:cubicBezTo>
                    <a:pt x="2548759" y="411128"/>
                    <a:pt x="2534873" y="416879"/>
                    <a:pt x="2520393" y="416879"/>
                  </a:cubicBezTo>
                  <a:lnTo>
                    <a:pt x="54594" y="416879"/>
                  </a:lnTo>
                  <a:cubicBezTo>
                    <a:pt x="40115" y="416879"/>
                    <a:pt x="26228" y="411128"/>
                    <a:pt x="15990" y="400889"/>
                  </a:cubicBezTo>
                  <a:cubicBezTo>
                    <a:pt x="5752" y="390651"/>
                    <a:pt x="0" y="376765"/>
                    <a:pt x="0" y="362286"/>
                  </a:cubicBezTo>
                  <a:lnTo>
                    <a:pt x="0" y="54594"/>
                  </a:lnTo>
                  <a:cubicBezTo>
                    <a:pt x="0" y="40115"/>
                    <a:pt x="5752" y="26228"/>
                    <a:pt x="15990" y="15990"/>
                  </a:cubicBezTo>
                  <a:cubicBezTo>
                    <a:pt x="26228" y="5752"/>
                    <a:pt x="40115" y="0"/>
                    <a:pt x="54594" y="0"/>
                  </a:cubicBezTo>
                  <a:close/>
                </a:path>
              </a:pathLst>
            </a:custGeom>
            <a:solidFill>
              <a:srgbClr val="1F285B">
                <a:alpha val="89804"/>
              </a:srgbClr>
            </a:solidFill>
            <a:ln cap="rnd">
              <a:noFill/>
              <a:prstDash val="solid"/>
              <a:round/>
            </a:ln>
          </p:spPr>
          <p:txBody>
            <a:bodyPr/>
            <a:lstStyle/>
            <a:p>
              <a:endParaRPr lang="zh-TW" altLang="en-US"/>
            </a:p>
          </p:txBody>
        </p:sp>
        <p:sp>
          <p:nvSpPr>
            <p:cNvPr id="93" name="TextBox 93"/>
            <p:cNvSpPr txBox="1"/>
            <p:nvPr/>
          </p:nvSpPr>
          <p:spPr>
            <a:xfrm>
              <a:off x="0" y="-38100"/>
              <a:ext cx="2574987" cy="454979"/>
            </a:xfrm>
            <a:prstGeom prst="rect">
              <a:avLst/>
            </a:prstGeom>
          </p:spPr>
          <p:txBody>
            <a:bodyPr lIns="50800" tIns="50800" rIns="50800" bIns="50800" rtlCol="0" anchor="ctr"/>
            <a:lstStyle/>
            <a:p>
              <a:pPr algn="ctr">
                <a:lnSpc>
                  <a:spcPts val="2659"/>
                </a:lnSpc>
                <a:spcBef>
                  <a:spcPct val="0"/>
                </a:spcBef>
              </a:pPr>
              <a:endParaRPr/>
            </a:p>
          </p:txBody>
        </p:sp>
      </p:grpSp>
      <p:sp>
        <p:nvSpPr>
          <p:cNvPr id="94" name="TextBox 94"/>
          <p:cNvSpPr txBox="1"/>
          <p:nvPr/>
        </p:nvSpPr>
        <p:spPr>
          <a:xfrm>
            <a:off x="5791558" y="547975"/>
            <a:ext cx="6704883" cy="637527"/>
          </a:xfrm>
          <a:prstGeom prst="rect">
            <a:avLst/>
          </a:prstGeom>
        </p:spPr>
        <p:txBody>
          <a:bodyPr lIns="0" tIns="0" rIns="0" bIns="0" rtlCol="0" anchor="t">
            <a:spAutoFit/>
          </a:bodyPr>
          <a:lstStyle/>
          <a:p>
            <a:pPr algn="ctr">
              <a:lnSpc>
                <a:spcPts val="5178"/>
              </a:lnSpc>
            </a:pPr>
            <a:r>
              <a:rPr lang="en-US" sz="3698">
                <a:solidFill>
                  <a:srgbClr val="FFFDF9"/>
                </a:solidFill>
                <a:latin typeface="Archivo Black"/>
                <a:ea typeface="Archivo Black"/>
                <a:cs typeface="Archivo Black"/>
                <a:sym typeface="Archivo Black"/>
              </a:rPr>
              <a:t>IMPLEMENTATION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Freeform 2"/>
          <p:cNvSpPr/>
          <p:nvPr/>
        </p:nvSpPr>
        <p:spPr>
          <a:xfrm>
            <a:off x="0" y="8147189"/>
            <a:ext cx="2095297" cy="3584160"/>
          </a:xfrm>
          <a:custGeom>
            <a:avLst/>
            <a:gdLst/>
            <a:ahLst/>
            <a:cxnLst/>
            <a:rect l="l" t="t" r="r" b="b"/>
            <a:pathLst>
              <a:path w="2095297" h="3584160">
                <a:moveTo>
                  <a:pt x="0" y="0"/>
                </a:moveTo>
                <a:lnTo>
                  <a:pt x="2095297" y="0"/>
                </a:lnTo>
                <a:lnTo>
                  <a:pt x="2095297" y="3584160"/>
                </a:lnTo>
                <a:lnTo>
                  <a:pt x="0" y="3584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grpSp>
        <p:nvGrpSpPr>
          <p:cNvPr id="3" name="Group 3"/>
          <p:cNvGrpSpPr/>
          <p:nvPr/>
        </p:nvGrpSpPr>
        <p:grpSpPr>
          <a:xfrm>
            <a:off x="5531507" y="278004"/>
            <a:ext cx="7232285" cy="1170876"/>
            <a:chOff x="0" y="0"/>
            <a:chExt cx="2574987" cy="416879"/>
          </a:xfrm>
        </p:grpSpPr>
        <p:sp>
          <p:nvSpPr>
            <p:cNvPr id="4" name="Freeform 4"/>
            <p:cNvSpPr/>
            <p:nvPr/>
          </p:nvSpPr>
          <p:spPr>
            <a:xfrm>
              <a:off x="0" y="0"/>
              <a:ext cx="2574987" cy="416879"/>
            </a:xfrm>
            <a:custGeom>
              <a:avLst/>
              <a:gdLst/>
              <a:ahLst/>
              <a:cxnLst/>
              <a:rect l="l" t="t" r="r" b="b"/>
              <a:pathLst>
                <a:path w="2574987" h="416879">
                  <a:moveTo>
                    <a:pt x="54594" y="0"/>
                  </a:moveTo>
                  <a:lnTo>
                    <a:pt x="2520393" y="0"/>
                  </a:lnTo>
                  <a:cubicBezTo>
                    <a:pt x="2534873" y="0"/>
                    <a:pt x="2548759" y="5752"/>
                    <a:pt x="2558997" y="15990"/>
                  </a:cubicBezTo>
                  <a:cubicBezTo>
                    <a:pt x="2569235" y="26228"/>
                    <a:pt x="2574987" y="40115"/>
                    <a:pt x="2574987" y="54594"/>
                  </a:cubicBezTo>
                  <a:lnTo>
                    <a:pt x="2574987" y="362286"/>
                  </a:lnTo>
                  <a:cubicBezTo>
                    <a:pt x="2574987" y="376765"/>
                    <a:pt x="2569235" y="390651"/>
                    <a:pt x="2558997" y="400889"/>
                  </a:cubicBezTo>
                  <a:cubicBezTo>
                    <a:pt x="2548759" y="411128"/>
                    <a:pt x="2534873" y="416879"/>
                    <a:pt x="2520393" y="416879"/>
                  </a:cubicBezTo>
                  <a:lnTo>
                    <a:pt x="54594" y="416879"/>
                  </a:lnTo>
                  <a:cubicBezTo>
                    <a:pt x="40115" y="416879"/>
                    <a:pt x="26228" y="411128"/>
                    <a:pt x="15990" y="400889"/>
                  </a:cubicBezTo>
                  <a:cubicBezTo>
                    <a:pt x="5752" y="390651"/>
                    <a:pt x="0" y="376765"/>
                    <a:pt x="0" y="362286"/>
                  </a:cubicBezTo>
                  <a:lnTo>
                    <a:pt x="0" y="54594"/>
                  </a:lnTo>
                  <a:cubicBezTo>
                    <a:pt x="0" y="40115"/>
                    <a:pt x="5752" y="26228"/>
                    <a:pt x="15990" y="15990"/>
                  </a:cubicBezTo>
                  <a:cubicBezTo>
                    <a:pt x="26228" y="5752"/>
                    <a:pt x="40115" y="0"/>
                    <a:pt x="54594" y="0"/>
                  </a:cubicBezTo>
                  <a:close/>
                </a:path>
              </a:pathLst>
            </a:custGeom>
            <a:solidFill>
              <a:srgbClr val="1F285B">
                <a:alpha val="89804"/>
              </a:srgbClr>
            </a:solidFill>
            <a:ln cap="rnd">
              <a:noFill/>
              <a:prstDash val="solid"/>
              <a:round/>
            </a:ln>
          </p:spPr>
          <p:txBody>
            <a:bodyPr/>
            <a:lstStyle/>
            <a:p>
              <a:endParaRPr lang="zh-TW" altLang="en-US"/>
            </a:p>
          </p:txBody>
        </p:sp>
        <p:sp>
          <p:nvSpPr>
            <p:cNvPr id="5" name="TextBox 5"/>
            <p:cNvSpPr txBox="1"/>
            <p:nvPr/>
          </p:nvSpPr>
          <p:spPr>
            <a:xfrm>
              <a:off x="0" y="-38100"/>
              <a:ext cx="2574987" cy="454979"/>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5791558" y="547975"/>
            <a:ext cx="6704883" cy="637527"/>
          </a:xfrm>
          <a:prstGeom prst="rect">
            <a:avLst/>
          </a:prstGeom>
        </p:spPr>
        <p:txBody>
          <a:bodyPr lIns="0" tIns="0" rIns="0" bIns="0" rtlCol="0" anchor="t">
            <a:spAutoFit/>
          </a:bodyPr>
          <a:lstStyle/>
          <a:p>
            <a:pPr algn="ctr">
              <a:lnSpc>
                <a:spcPts val="5178"/>
              </a:lnSpc>
            </a:pPr>
            <a:r>
              <a:rPr lang="en-US" sz="3698">
                <a:solidFill>
                  <a:srgbClr val="FFFDF9"/>
                </a:solidFill>
                <a:latin typeface="Archivo Black"/>
                <a:ea typeface="Archivo Black"/>
                <a:cs typeface="Archivo Black"/>
                <a:sym typeface="Archivo Black"/>
              </a:rPr>
              <a:t>RESULT</a:t>
            </a:r>
          </a:p>
        </p:txBody>
      </p:sp>
      <p:sp>
        <p:nvSpPr>
          <p:cNvPr id="7" name="TextBox 7"/>
          <p:cNvSpPr txBox="1"/>
          <p:nvPr/>
        </p:nvSpPr>
        <p:spPr>
          <a:xfrm>
            <a:off x="1028700" y="1927395"/>
            <a:ext cx="16230600" cy="6924675"/>
          </a:xfrm>
          <a:prstGeom prst="rect">
            <a:avLst/>
          </a:prstGeom>
        </p:spPr>
        <p:txBody>
          <a:bodyPr lIns="0" tIns="0" rIns="0" bIns="0" rtlCol="0" anchor="t">
            <a:spAutoFit/>
          </a:bodyPr>
          <a:lstStyle/>
          <a:p>
            <a:pPr marL="647700" lvl="1" indent="-323850" algn="just">
              <a:lnSpc>
                <a:spcPts val="4200"/>
              </a:lnSpc>
              <a:buFont typeface="Arial"/>
              <a:buChar char="•"/>
            </a:pPr>
            <a:r>
              <a:rPr lang="en-US" sz="3000">
                <a:solidFill>
                  <a:srgbClr val="1F285B"/>
                </a:solidFill>
                <a:latin typeface="Quicksand"/>
                <a:ea typeface="Quicksand"/>
                <a:cs typeface="Quicksand"/>
                <a:sym typeface="Quicksand"/>
              </a:rPr>
              <a:t>This project proves the practicability of the developed system, especially in multi-language and multi-character dubbing scenarios, providing a feasible and efficient technical solution for future film and television production.</a:t>
            </a:r>
          </a:p>
          <a:p>
            <a:pPr algn="just">
              <a:lnSpc>
                <a:spcPts val="4200"/>
              </a:lnSpc>
            </a:pPr>
            <a:endParaRPr lang="en-US" sz="3000">
              <a:solidFill>
                <a:srgbClr val="1F285B"/>
              </a:solidFill>
              <a:latin typeface="Quicksand"/>
              <a:ea typeface="Quicksand"/>
              <a:cs typeface="Quicksand"/>
              <a:sym typeface="Quicksand"/>
            </a:endParaRPr>
          </a:p>
          <a:p>
            <a:pPr marL="647700" lvl="1" indent="-323850" algn="just">
              <a:lnSpc>
                <a:spcPts val="4200"/>
              </a:lnSpc>
              <a:buFont typeface="Arial"/>
              <a:buChar char="•"/>
            </a:pPr>
            <a:r>
              <a:rPr lang="en-US" sz="3000" b="1">
                <a:solidFill>
                  <a:srgbClr val="1F285B"/>
                </a:solidFill>
                <a:latin typeface="Quicksand Bold"/>
                <a:ea typeface="Quicksand Bold"/>
                <a:cs typeface="Quicksand Bold"/>
                <a:sym typeface="Quicksand Bold"/>
              </a:rPr>
              <a:t>Analysis :</a:t>
            </a:r>
          </a:p>
          <a:p>
            <a:pPr marL="1295400" lvl="2" indent="-431800" algn="just">
              <a:lnSpc>
                <a:spcPts val="4200"/>
              </a:lnSpc>
              <a:buFont typeface="Arial"/>
              <a:buChar char="⚬"/>
            </a:pPr>
            <a:r>
              <a:rPr lang="en-US" sz="3000" b="1">
                <a:solidFill>
                  <a:srgbClr val="1F285B"/>
                </a:solidFill>
                <a:latin typeface="Quicksand Bold"/>
                <a:ea typeface="Quicksand Bold"/>
                <a:cs typeface="Quicksand Bold"/>
                <a:sym typeface="Quicksand Bold"/>
              </a:rPr>
              <a:t>Speech recognition:</a:t>
            </a:r>
            <a:r>
              <a:rPr lang="en-US" sz="3000">
                <a:solidFill>
                  <a:srgbClr val="1F285B"/>
                </a:solidFill>
                <a:latin typeface="Quicksand"/>
                <a:ea typeface="Quicksand"/>
                <a:cs typeface="Quicksand"/>
                <a:sym typeface="Quicksand"/>
              </a:rPr>
              <a:t> generates transcriptions quickly and accurately label speakers and their speech. If needed, you can adjust the transcription.</a:t>
            </a:r>
          </a:p>
          <a:p>
            <a:pPr algn="just">
              <a:lnSpc>
                <a:spcPts val="4200"/>
              </a:lnSpc>
            </a:pPr>
            <a:endParaRPr lang="en-US" sz="3000">
              <a:solidFill>
                <a:srgbClr val="1F285B"/>
              </a:solidFill>
              <a:latin typeface="Quicksand"/>
              <a:ea typeface="Quicksand"/>
              <a:cs typeface="Quicksand"/>
              <a:sym typeface="Quicksand"/>
            </a:endParaRPr>
          </a:p>
          <a:p>
            <a:pPr marL="1295400" lvl="2" indent="-431800" algn="just">
              <a:lnSpc>
                <a:spcPts val="4200"/>
              </a:lnSpc>
              <a:buFont typeface="Arial"/>
              <a:buChar char="⚬"/>
            </a:pPr>
            <a:r>
              <a:rPr lang="en-US" sz="3000" b="1">
                <a:solidFill>
                  <a:srgbClr val="1F285B"/>
                </a:solidFill>
                <a:latin typeface="Quicksand Bold"/>
                <a:ea typeface="Quicksand Bold"/>
                <a:cs typeface="Quicksand Bold"/>
                <a:sym typeface="Quicksand Bold"/>
              </a:rPr>
              <a:t>Lip synchronization:</a:t>
            </a:r>
            <a:r>
              <a:rPr lang="en-US" sz="3000">
                <a:solidFill>
                  <a:srgbClr val="1F285B"/>
                </a:solidFill>
                <a:latin typeface="Quicksand"/>
                <a:ea typeface="Quicksand"/>
                <a:cs typeface="Quicksand"/>
                <a:sym typeface="Quicksand"/>
              </a:rPr>
              <a:t> The actor’s face recognition achieves an average of above 80% accuracy and successfully matches the lips with the dubbed speech, though the mouth movement may have slight artifacts, depending on the quality of the video.</a:t>
            </a:r>
          </a:p>
          <a:p>
            <a:pPr algn="just">
              <a:lnSpc>
                <a:spcPts val="4200"/>
              </a:lnSpc>
            </a:pPr>
            <a:endParaRPr lang="en-US" sz="3000">
              <a:solidFill>
                <a:srgbClr val="1F285B"/>
              </a:solidFill>
              <a:latin typeface="Quicksand"/>
              <a:ea typeface="Quicksand"/>
              <a:cs typeface="Quicksand"/>
              <a:sym typeface="Quicksand"/>
            </a:endParaRPr>
          </a:p>
          <a:p>
            <a:pPr algn="just">
              <a:lnSpc>
                <a:spcPts val="4200"/>
              </a:lnSpc>
            </a:pPr>
            <a:endParaRPr lang="en-US" sz="3000">
              <a:solidFill>
                <a:srgbClr val="1F285B"/>
              </a:solidFill>
              <a:latin typeface="Quicksand"/>
              <a:ea typeface="Quicksand"/>
              <a:cs typeface="Quicksand"/>
              <a:sym typeface="Quicksand"/>
            </a:endParaRPr>
          </a:p>
        </p:txBody>
      </p:sp>
      <p:sp>
        <p:nvSpPr>
          <p:cNvPr id="8" name="Freeform 8"/>
          <p:cNvSpPr/>
          <p:nvPr/>
        </p:nvSpPr>
        <p:spPr>
          <a:xfrm>
            <a:off x="17602138" y="8370707"/>
            <a:ext cx="842695" cy="635851"/>
          </a:xfrm>
          <a:custGeom>
            <a:avLst/>
            <a:gdLst/>
            <a:ahLst/>
            <a:cxnLst/>
            <a:rect l="l" t="t" r="r" b="b"/>
            <a:pathLst>
              <a:path w="842695" h="635851">
                <a:moveTo>
                  <a:pt x="0" y="0"/>
                </a:moveTo>
                <a:lnTo>
                  <a:pt x="842695" y="0"/>
                </a:lnTo>
                <a:lnTo>
                  <a:pt x="842695" y="635851"/>
                </a:lnTo>
                <a:lnTo>
                  <a:pt x="0" y="6358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9" name="Freeform 9"/>
          <p:cNvSpPr/>
          <p:nvPr/>
        </p:nvSpPr>
        <p:spPr>
          <a:xfrm flipV="1">
            <a:off x="16494746" y="9144445"/>
            <a:ext cx="1529108" cy="2615651"/>
          </a:xfrm>
          <a:custGeom>
            <a:avLst/>
            <a:gdLst/>
            <a:ahLst/>
            <a:cxnLst/>
            <a:rect l="l" t="t" r="r" b="b"/>
            <a:pathLst>
              <a:path w="1529108" h="2615651">
                <a:moveTo>
                  <a:pt x="0" y="2615651"/>
                </a:moveTo>
                <a:lnTo>
                  <a:pt x="1529108" y="2615651"/>
                </a:lnTo>
                <a:lnTo>
                  <a:pt x="1529108" y="0"/>
                </a:lnTo>
                <a:lnTo>
                  <a:pt x="0" y="0"/>
                </a:lnTo>
                <a:lnTo>
                  <a:pt x="0" y="2615651"/>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10" name="Freeform 10"/>
          <p:cNvSpPr/>
          <p:nvPr/>
        </p:nvSpPr>
        <p:spPr>
          <a:xfrm>
            <a:off x="5820133" y="8968458"/>
            <a:ext cx="6943659" cy="1239920"/>
          </a:xfrm>
          <a:custGeom>
            <a:avLst/>
            <a:gdLst/>
            <a:ahLst/>
            <a:cxnLst/>
            <a:rect l="l" t="t" r="r" b="b"/>
            <a:pathLst>
              <a:path w="6943659" h="1239920">
                <a:moveTo>
                  <a:pt x="0" y="0"/>
                </a:moveTo>
                <a:lnTo>
                  <a:pt x="6943659" y="0"/>
                </a:lnTo>
                <a:lnTo>
                  <a:pt x="6943659" y="1239920"/>
                </a:lnTo>
                <a:lnTo>
                  <a:pt x="0" y="1239920"/>
                </a:lnTo>
                <a:lnTo>
                  <a:pt x="0" y="0"/>
                </a:lnTo>
                <a:close/>
              </a:path>
            </a:pathLst>
          </a:custGeom>
          <a:blipFill>
            <a:blip r:embed="rId8">
              <a:extLst>
                <a:ext uri="{96DAC541-7B7A-43D3-8B79-37D633B846F1}">
                  <asvg:svgBlip xmlns:asvg="http://schemas.microsoft.com/office/drawing/2016/SVG/main" r:embed="rId9"/>
                </a:ext>
              </a:extLst>
            </a:blip>
            <a:stretch>
              <a:fillRect l="-33800" t="-429675" r="-33469"/>
            </a:stretch>
          </a:blipFill>
        </p:spPr>
        <p:txBody>
          <a:bodyPr/>
          <a:lstStyle/>
          <a:p>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Freeform 2"/>
          <p:cNvSpPr/>
          <p:nvPr/>
        </p:nvSpPr>
        <p:spPr>
          <a:xfrm>
            <a:off x="0" y="8147189"/>
            <a:ext cx="2095297" cy="3584160"/>
          </a:xfrm>
          <a:custGeom>
            <a:avLst/>
            <a:gdLst/>
            <a:ahLst/>
            <a:cxnLst/>
            <a:rect l="l" t="t" r="r" b="b"/>
            <a:pathLst>
              <a:path w="2095297" h="3584160">
                <a:moveTo>
                  <a:pt x="0" y="0"/>
                </a:moveTo>
                <a:lnTo>
                  <a:pt x="2095297" y="0"/>
                </a:lnTo>
                <a:lnTo>
                  <a:pt x="2095297" y="3584160"/>
                </a:lnTo>
                <a:lnTo>
                  <a:pt x="0" y="35841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3" name="Freeform 3"/>
          <p:cNvSpPr/>
          <p:nvPr/>
        </p:nvSpPr>
        <p:spPr>
          <a:xfrm>
            <a:off x="17259300" y="7637745"/>
            <a:ext cx="842695" cy="635851"/>
          </a:xfrm>
          <a:custGeom>
            <a:avLst/>
            <a:gdLst/>
            <a:ahLst/>
            <a:cxnLst/>
            <a:rect l="l" t="t" r="r" b="b"/>
            <a:pathLst>
              <a:path w="842695" h="635851">
                <a:moveTo>
                  <a:pt x="0" y="0"/>
                </a:moveTo>
                <a:lnTo>
                  <a:pt x="842695" y="0"/>
                </a:lnTo>
                <a:lnTo>
                  <a:pt x="842695" y="635852"/>
                </a:lnTo>
                <a:lnTo>
                  <a:pt x="0" y="6358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4" name="Freeform 4"/>
          <p:cNvSpPr/>
          <p:nvPr/>
        </p:nvSpPr>
        <p:spPr>
          <a:xfrm flipV="1">
            <a:off x="16151540" y="8394953"/>
            <a:ext cx="1950455" cy="3336397"/>
          </a:xfrm>
          <a:custGeom>
            <a:avLst/>
            <a:gdLst/>
            <a:ahLst/>
            <a:cxnLst/>
            <a:rect l="l" t="t" r="r" b="b"/>
            <a:pathLst>
              <a:path w="1950455" h="3336397">
                <a:moveTo>
                  <a:pt x="0" y="3336396"/>
                </a:moveTo>
                <a:lnTo>
                  <a:pt x="1950455" y="3336396"/>
                </a:lnTo>
                <a:lnTo>
                  <a:pt x="1950455" y="0"/>
                </a:lnTo>
                <a:lnTo>
                  <a:pt x="0" y="0"/>
                </a:lnTo>
                <a:lnTo>
                  <a:pt x="0" y="3336396"/>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grpSp>
        <p:nvGrpSpPr>
          <p:cNvPr id="5" name="Group 5"/>
          <p:cNvGrpSpPr/>
          <p:nvPr/>
        </p:nvGrpSpPr>
        <p:grpSpPr>
          <a:xfrm>
            <a:off x="5531507" y="278004"/>
            <a:ext cx="7232285" cy="1170876"/>
            <a:chOff x="0" y="0"/>
            <a:chExt cx="2574987" cy="416879"/>
          </a:xfrm>
        </p:grpSpPr>
        <p:sp>
          <p:nvSpPr>
            <p:cNvPr id="6" name="Freeform 6"/>
            <p:cNvSpPr/>
            <p:nvPr/>
          </p:nvSpPr>
          <p:spPr>
            <a:xfrm>
              <a:off x="0" y="0"/>
              <a:ext cx="2574987" cy="416879"/>
            </a:xfrm>
            <a:custGeom>
              <a:avLst/>
              <a:gdLst/>
              <a:ahLst/>
              <a:cxnLst/>
              <a:rect l="l" t="t" r="r" b="b"/>
              <a:pathLst>
                <a:path w="2574987" h="416879">
                  <a:moveTo>
                    <a:pt x="54594" y="0"/>
                  </a:moveTo>
                  <a:lnTo>
                    <a:pt x="2520393" y="0"/>
                  </a:lnTo>
                  <a:cubicBezTo>
                    <a:pt x="2534873" y="0"/>
                    <a:pt x="2548759" y="5752"/>
                    <a:pt x="2558997" y="15990"/>
                  </a:cubicBezTo>
                  <a:cubicBezTo>
                    <a:pt x="2569235" y="26228"/>
                    <a:pt x="2574987" y="40115"/>
                    <a:pt x="2574987" y="54594"/>
                  </a:cubicBezTo>
                  <a:lnTo>
                    <a:pt x="2574987" y="362286"/>
                  </a:lnTo>
                  <a:cubicBezTo>
                    <a:pt x="2574987" y="376765"/>
                    <a:pt x="2569235" y="390651"/>
                    <a:pt x="2558997" y="400889"/>
                  </a:cubicBezTo>
                  <a:cubicBezTo>
                    <a:pt x="2548759" y="411128"/>
                    <a:pt x="2534873" y="416879"/>
                    <a:pt x="2520393" y="416879"/>
                  </a:cubicBezTo>
                  <a:lnTo>
                    <a:pt x="54594" y="416879"/>
                  </a:lnTo>
                  <a:cubicBezTo>
                    <a:pt x="40115" y="416879"/>
                    <a:pt x="26228" y="411128"/>
                    <a:pt x="15990" y="400889"/>
                  </a:cubicBezTo>
                  <a:cubicBezTo>
                    <a:pt x="5752" y="390651"/>
                    <a:pt x="0" y="376765"/>
                    <a:pt x="0" y="362286"/>
                  </a:cubicBezTo>
                  <a:lnTo>
                    <a:pt x="0" y="54594"/>
                  </a:lnTo>
                  <a:cubicBezTo>
                    <a:pt x="0" y="40115"/>
                    <a:pt x="5752" y="26228"/>
                    <a:pt x="15990" y="15990"/>
                  </a:cubicBezTo>
                  <a:cubicBezTo>
                    <a:pt x="26228" y="5752"/>
                    <a:pt x="40115" y="0"/>
                    <a:pt x="54594" y="0"/>
                  </a:cubicBezTo>
                  <a:close/>
                </a:path>
              </a:pathLst>
            </a:custGeom>
            <a:solidFill>
              <a:srgbClr val="1F285B">
                <a:alpha val="89804"/>
              </a:srgbClr>
            </a:solidFill>
            <a:ln cap="rnd">
              <a:noFill/>
              <a:prstDash val="solid"/>
              <a:round/>
            </a:ln>
          </p:spPr>
          <p:txBody>
            <a:bodyPr/>
            <a:lstStyle/>
            <a:p>
              <a:endParaRPr lang="zh-TW" altLang="en-US"/>
            </a:p>
          </p:txBody>
        </p:sp>
        <p:sp>
          <p:nvSpPr>
            <p:cNvPr id="7" name="TextBox 7"/>
            <p:cNvSpPr txBox="1"/>
            <p:nvPr/>
          </p:nvSpPr>
          <p:spPr>
            <a:xfrm>
              <a:off x="0" y="-38100"/>
              <a:ext cx="2574987" cy="454979"/>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5791558" y="547975"/>
            <a:ext cx="6704883" cy="637527"/>
          </a:xfrm>
          <a:prstGeom prst="rect">
            <a:avLst/>
          </a:prstGeom>
        </p:spPr>
        <p:txBody>
          <a:bodyPr lIns="0" tIns="0" rIns="0" bIns="0" rtlCol="0" anchor="t">
            <a:spAutoFit/>
          </a:bodyPr>
          <a:lstStyle/>
          <a:p>
            <a:pPr algn="ctr">
              <a:lnSpc>
                <a:spcPts val="5178"/>
              </a:lnSpc>
            </a:pPr>
            <a:r>
              <a:rPr lang="en-US" sz="3698">
                <a:solidFill>
                  <a:srgbClr val="FFFDF9"/>
                </a:solidFill>
                <a:latin typeface="Archivo Black"/>
                <a:ea typeface="Archivo Black"/>
                <a:cs typeface="Archivo Black"/>
                <a:sym typeface="Archivo Black"/>
              </a:rPr>
              <a:t>CONCLUSION</a:t>
            </a:r>
          </a:p>
        </p:txBody>
      </p:sp>
      <p:sp>
        <p:nvSpPr>
          <p:cNvPr id="9" name="TextBox 9"/>
          <p:cNvSpPr txBox="1"/>
          <p:nvPr/>
        </p:nvSpPr>
        <p:spPr>
          <a:xfrm>
            <a:off x="1047649" y="2102459"/>
            <a:ext cx="16230600" cy="6391275"/>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1F285B"/>
                </a:solidFill>
                <a:latin typeface="Quicksand"/>
                <a:ea typeface="Quicksand"/>
                <a:cs typeface="Quicksand"/>
                <a:sym typeface="Quicksand"/>
              </a:rPr>
              <a:t>Our system achieved multilingual lip synchronization in multi-character scenes, </a:t>
            </a:r>
            <a:r>
              <a:rPr lang="en-US" sz="3000" dirty="0" err="1">
                <a:solidFill>
                  <a:srgbClr val="1F285B"/>
                </a:solidFill>
                <a:latin typeface="Quicksand"/>
                <a:ea typeface="Quicksand"/>
                <a:cs typeface="Quicksand"/>
                <a:sym typeface="Quicksand"/>
              </a:rPr>
              <a:t>succesfully</a:t>
            </a:r>
            <a:r>
              <a:rPr lang="en-US" sz="3000" dirty="0">
                <a:solidFill>
                  <a:srgbClr val="1F285B"/>
                </a:solidFill>
                <a:latin typeface="Quicksand"/>
                <a:ea typeface="Quicksand"/>
                <a:cs typeface="Quicksand"/>
                <a:sym typeface="Quicksand"/>
              </a:rPr>
              <a:t> in voice alignment, and character recognition. By integrating advanced technologies like Faster-Whisper, </a:t>
            </a:r>
            <a:r>
              <a:rPr lang="en-US" sz="3000" dirty="0" err="1">
                <a:solidFill>
                  <a:srgbClr val="1F285B"/>
                </a:solidFill>
                <a:latin typeface="Quicksand"/>
                <a:ea typeface="Quicksand"/>
                <a:cs typeface="Quicksand"/>
                <a:sym typeface="Quicksand"/>
              </a:rPr>
              <a:t>NeMo</a:t>
            </a:r>
            <a:r>
              <a:rPr lang="en-US" sz="3000" dirty="0">
                <a:solidFill>
                  <a:srgbClr val="1F285B"/>
                </a:solidFill>
                <a:latin typeface="Quicksand"/>
                <a:ea typeface="Quicksand"/>
                <a:cs typeface="Quicksand"/>
                <a:sym typeface="Quicksand"/>
              </a:rPr>
              <a:t>, and Wav2Lip, it overcomes traditional lip-sync limitations, maintaining audio-visual even during frequent character switches, enhancing the dubbing experience in film and television.</a:t>
            </a:r>
          </a:p>
          <a:p>
            <a:pPr algn="just">
              <a:lnSpc>
                <a:spcPts val="4200"/>
              </a:lnSpc>
            </a:pPr>
            <a:endParaRPr lang="en-US" sz="3000" dirty="0">
              <a:solidFill>
                <a:srgbClr val="1F285B"/>
              </a:solidFill>
              <a:latin typeface="Quicksand"/>
              <a:ea typeface="Quicksand"/>
              <a:cs typeface="Quicksand"/>
              <a:sym typeface="Quicksand"/>
            </a:endParaRPr>
          </a:p>
          <a:p>
            <a:pPr algn="just">
              <a:lnSpc>
                <a:spcPts val="4200"/>
              </a:lnSpc>
            </a:pPr>
            <a:endParaRPr lang="en-US" sz="3000" dirty="0">
              <a:solidFill>
                <a:srgbClr val="1F285B"/>
              </a:solidFill>
              <a:latin typeface="Quicksand"/>
              <a:ea typeface="Quicksand"/>
              <a:cs typeface="Quicksand"/>
              <a:sym typeface="Quicksand"/>
            </a:endParaRPr>
          </a:p>
          <a:p>
            <a:pPr marL="647700" lvl="1" indent="-323850" algn="just">
              <a:lnSpc>
                <a:spcPts val="4200"/>
              </a:lnSpc>
              <a:buFont typeface="Arial"/>
              <a:buChar char="•"/>
            </a:pPr>
            <a:r>
              <a:rPr lang="en-US" sz="3000" b="1" dirty="0">
                <a:solidFill>
                  <a:srgbClr val="1F285B"/>
                </a:solidFill>
                <a:latin typeface="Quicksand Bold"/>
                <a:ea typeface="Quicksand Bold"/>
                <a:cs typeface="Quicksand Bold"/>
                <a:sym typeface="Quicksand Bold"/>
              </a:rPr>
              <a:t>Future Improvement:</a:t>
            </a:r>
          </a:p>
          <a:p>
            <a:pPr marL="1295400" lvl="2" indent="-431800" algn="just">
              <a:lnSpc>
                <a:spcPts val="4200"/>
              </a:lnSpc>
              <a:buFont typeface="Arial"/>
              <a:buChar char="⚬"/>
            </a:pPr>
            <a:r>
              <a:rPr lang="en-US" sz="3000" dirty="0">
                <a:solidFill>
                  <a:srgbClr val="1F285B"/>
                </a:solidFill>
                <a:latin typeface="Quicksand"/>
                <a:ea typeface="Quicksand"/>
                <a:cs typeface="Quicksand"/>
                <a:sym typeface="Quicksand"/>
              </a:rPr>
              <a:t>Improving processing speed and resource utilization efficiency to support higher resolution rate of film and larger scale data processing needs. </a:t>
            </a:r>
          </a:p>
          <a:p>
            <a:pPr marL="1295400" lvl="2" indent="-431800" algn="just">
              <a:lnSpc>
                <a:spcPts val="4200"/>
              </a:lnSpc>
              <a:buFont typeface="Arial"/>
              <a:buChar char="⚬"/>
            </a:pPr>
            <a:r>
              <a:rPr lang="en-US" sz="3000" dirty="0">
                <a:solidFill>
                  <a:srgbClr val="1F285B"/>
                </a:solidFill>
                <a:latin typeface="Quicksand"/>
                <a:ea typeface="Quicksand"/>
                <a:cs typeface="Quicksand"/>
                <a:sym typeface="Quicksand"/>
              </a:rPr>
              <a:t>Resulting lip shape details are optimized to reduce blurring</a:t>
            </a:r>
          </a:p>
          <a:p>
            <a:pPr algn="just">
              <a:lnSpc>
                <a:spcPts val="4200"/>
              </a:lnSpc>
            </a:pPr>
            <a:endParaRPr lang="en-US" sz="3000" dirty="0">
              <a:solidFill>
                <a:srgbClr val="1F285B"/>
              </a:solidFill>
              <a:latin typeface="Quicksand"/>
              <a:ea typeface="Quicksand"/>
              <a:cs typeface="Quicksand"/>
              <a:sym typeface="Quicksand"/>
            </a:endParaRPr>
          </a:p>
        </p:txBody>
      </p:sp>
      <p:sp>
        <p:nvSpPr>
          <p:cNvPr id="10" name="Freeform 10"/>
          <p:cNvSpPr/>
          <p:nvPr/>
        </p:nvSpPr>
        <p:spPr>
          <a:xfrm>
            <a:off x="5820133" y="8968458"/>
            <a:ext cx="6943659" cy="1239920"/>
          </a:xfrm>
          <a:custGeom>
            <a:avLst/>
            <a:gdLst/>
            <a:ahLst/>
            <a:cxnLst/>
            <a:rect l="l" t="t" r="r" b="b"/>
            <a:pathLst>
              <a:path w="6943659" h="1239920">
                <a:moveTo>
                  <a:pt x="0" y="0"/>
                </a:moveTo>
                <a:lnTo>
                  <a:pt x="6943659" y="0"/>
                </a:lnTo>
                <a:lnTo>
                  <a:pt x="6943659" y="1239920"/>
                </a:lnTo>
                <a:lnTo>
                  <a:pt x="0" y="1239920"/>
                </a:lnTo>
                <a:lnTo>
                  <a:pt x="0" y="0"/>
                </a:lnTo>
                <a:close/>
              </a:path>
            </a:pathLst>
          </a:custGeom>
          <a:blipFill>
            <a:blip r:embed="rId8">
              <a:extLst>
                <a:ext uri="{96DAC541-7B7A-43D3-8B79-37D633B846F1}">
                  <asvg:svgBlip xmlns:asvg="http://schemas.microsoft.com/office/drawing/2016/SVG/main" r:embed="rId9"/>
                </a:ext>
              </a:extLst>
            </a:blip>
            <a:stretch>
              <a:fillRect l="-33800" t="-429675" r="-33469"/>
            </a:stretch>
          </a:blipFill>
        </p:spPr>
        <p:txBody>
          <a:bodyPr/>
          <a:lstStyle/>
          <a:p>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1252232" y="428588"/>
            <a:ext cx="2920825" cy="778223"/>
            <a:chOff x="0" y="0"/>
            <a:chExt cx="769271" cy="204964"/>
          </a:xfrm>
        </p:grpSpPr>
        <p:sp>
          <p:nvSpPr>
            <p:cNvPr id="3" name="Freeform 3"/>
            <p:cNvSpPr/>
            <p:nvPr/>
          </p:nvSpPr>
          <p:spPr>
            <a:xfrm>
              <a:off x="0" y="0"/>
              <a:ext cx="769271" cy="204964"/>
            </a:xfrm>
            <a:custGeom>
              <a:avLst/>
              <a:gdLst/>
              <a:ahLst/>
              <a:cxnLst/>
              <a:rect l="l" t="t" r="r" b="b"/>
              <a:pathLst>
                <a:path w="769271" h="204964">
                  <a:moveTo>
                    <a:pt x="102482" y="0"/>
                  </a:moveTo>
                  <a:lnTo>
                    <a:pt x="666789" y="0"/>
                  </a:lnTo>
                  <a:cubicBezTo>
                    <a:pt x="693969" y="0"/>
                    <a:pt x="720035" y="10797"/>
                    <a:pt x="739254" y="30016"/>
                  </a:cubicBezTo>
                  <a:cubicBezTo>
                    <a:pt x="758474" y="49235"/>
                    <a:pt x="769271" y="75302"/>
                    <a:pt x="769271" y="102482"/>
                  </a:cubicBezTo>
                  <a:lnTo>
                    <a:pt x="769271" y="102482"/>
                  </a:lnTo>
                  <a:cubicBezTo>
                    <a:pt x="769271" y="129662"/>
                    <a:pt x="758474" y="155729"/>
                    <a:pt x="739254" y="174948"/>
                  </a:cubicBezTo>
                  <a:cubicBezTo>
                    <a:pt x="720035" y="194167"/>
                    <a:pt x="693969" y="204964"/>
                    <a:pt x="666789" y="204964"/>
                  </a:cubicBezTo>
                  <a:lnTo>
                    <a:pt x="102482" y="204964"/>
                  </a:lnTo>
                  <a:cubicBezTo>
                    <a:pt x="75302" y="204964"/>
                    <a:pt x="49235" y="194167"/>
                    <a:pt x="30016" y="174948"/>
                  </a:cubicBezTo>
                  <a:cubicBezTo>
                    <a:pt x="10797" y="155729"/>
                    <a:pt x="0" y="129662"/>
                    <a:pt x="0" y="102482"/>
                  </a:cubicBezTo>
                  <a:lnTo>
                    <a:pt x="0" y="102482"/>
                  </a:lnTo>
                  <a:cubicBezTo>
                    <a:pt x="0" y="75302"/>
                    <a:pt x="10797" y="49235"/>
                    <a:pt x="30016" y="30016"/>
                  </a:cubicBezTo>
                  <a:cubicBezTo>
                    <a:pt x="49235" y="10797"/>
                    <a:pt x="75302" y="0"/>
                    <a:pt x="102482" y="0"/>
                  </a:cubicBezTo>
                  <a:close/>
                </a:path>
              </a:pathLst>
            </a:custGeom>
            <a:solidFill>
              <a:srgbClr val="1F285B">
                <a:alpha val="89804"/>
              </a:srgbClr>
            </a:solidFill>
            <a:ln cap="rnd">
              <a:noFill/>
              <a:prstDash val="solid"/>
              <a:round/>
            </a:ln>
          </p:spPr>
          <p:txBody>
            <a:bodyPr/>
            <a:lstStyle/>
            <a:p>
              <a:endParaRPr lang="zh-TW" altLang="en-US"/>
            </a:p>
          </p:txBody>
        </p:sp>
        <p:sp>
          <p:nvSpPr>
            <p:cNvPr id="4" name="TextBox 4"/>
            <p:cNvSpPr txBox="1"/>
            <p:nvPr/>
          </p:nvSpPr>
          <p:spPr>
            <a:xfrm>
              <a:off x="0" y="-38100"/>
              <a:ext cx="769271" cy="243064"/>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252232" y="1374126"/>
            <a:ext cx="4516521" cy="129857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1F285B"/>
                </a:solidFill>
                <a:latin typeface="Quicksand"/>
                <a:ea typeface="Quicksand"/>
                <a:cs typeface="Quicksand"/>
                <a:sym typeface="Quicksand"/>
              </a:rPr>
              <a:t>Faster-whisper + NeMo</a:t>
            </a:r>
          </a:p>
          <a:p>
            <a:pPr marL="539749" lvl="1" indent="-269875" algn="l">
              <a:lnSpc>
                <a:spcPts val="3499"/>
              </a:lnSpc>
              <a:buFont typeface="Arial"/>
              <a:buChar char="•"/>
            </a:pPr>
            <a:r>
              <a:rPr lang="en-US" sz="2499">
                <a:solidFill>
                  <a:srgbClr val="1F285B"/>
                </a:solidFill>
                <a:latin typeface="Quicksand"/>
                <a:ea typeface="Quicksand"/>
                <a:cs typeface="Quicksand"/>
                <a:sym typeface="Quicksand"/>
              </a:rPr>
              <a:t>Face-recognition</a:t>
            </a:r>
          </a:p>
          <a:p>
            <a:pPr marL="539749" lvl="1" indent="-269875" algn="l">
              <a:lnSpc>
                <a:spcPts val="3499"/>
              </a:lnSpc>
              <a:buFont typeface="Arial"/>
              <a:buChar char="•"/>
            </a:pPr>
            <a:r>
              <a:rPr lang="en-US" sz="2499">
                <a:solidFill>
                  <a:srgbClr val="1F285B"/>
                </a:solidFill>
                <a:latin typeface="Quicksand"/>
                <a:ea typeface="Quicksand"/>
                <a:cs typeface="Quicksand"/>
                <a:sym typeface="Quicksand"/>
              </a:rPr>
              <a:t>Wav2Lip</a:t>
            </a:r>
          </a:p>
        </p:txBody>
      </p:sp>
      <p:sp>
        <p:nvSpPr>
          <p:cNvPr id="6" name="TextBox 6"/>
          <p:cNvSpPr txBox="1"/>
          <p:nvPr/>
        </p:nvSpPr>
        <p:spPr>
          <a:xfrm>
            <a:off x="-1843306" y="529972"/>
            <a:ext cx="9063941" cy="523875"/>
          </a:xfrm>
          <a:prstGeom prst="rect">
            <a:avLst/>
          </a:prstGeom>
        </p:spPr>
        <p:txBody>
          <a:bodyPr lIns="0" tIns="0" rIns="0" bIns="0" rtlCol="0" anchor="t">
            <a:spAutoFit/>
          </a:bodyPr>
          <a:lstStyle/>
          <a:p>
            <a:pPr algn="ctr">
              <a:lnSpc>
                <a:spcPts val="4200"/>
              </a:lnSpc>
            </a:pPr>
            <a:r>
              <a:rPr lang="en-US" sz="3000" dirty="0">
                <a:solidFill>
                  <a:srgbClr val="FFFDF9"/>
                </a:solidFill>
                <a:latin typeface="Archivo Black"/>
                <a:ea typeface="Archivo Black"/>
                <a:cs typeface="Archivo Black"/>
                <a:sym typeface="Archivo Black"/>
              </a:rPr>
              <a:t>METHODS</a:t>
            </a:r>
          </a:p>
        </p:txBody>
      </p:sp>
      <p:grpSp>
        <p:nvGrpSpPr>
          <p:cNvPr id="7" name="Group 7"/>
          <p:cNvGrpSpPr/>
          <p:nvPr/>
        </p:nvGrpSpPr>
        <p:grpSpPr>
          <a:xfrm>
            <a:off x="1276212" y="3206101"/>
            <a:ext cx="2920825" cy="778223"/>
            <a:chOff x="0" y="0"/>
            <a:chExt cx="769271" cy="204964"/>
          </a:xfrm>
        </p:grpSpPr>
        <p:sp>
          <p:nvSpPr>
            <p:cNvPr id="8" name="Freeform 8"/>
            <p:cNvSpPr/>
            <p:nvPr/>
          </p:nvSpPr>
          <p:spPr>
            <a:xfrm>
              <a:off x="0" y="0"/>
              <a:ext cx="769271" cy="204964"/>
            </a:xfrm>
            <a:custGeom>
              <a:avLst/>
              <a:gdLst/>
              <a:ahLst/>
              <a:cxnLst/>
              <a:rect l="l" t="t" r="r" b="b"/>
              <a:pathLst>
                <a:path w="769271" h="204964">
                  <a:moveTo>
                    <a:pt x="102482" y="0"/>
                  </a:moveTo>
                  <a:lnTo>
                    <a:pt x="666789" y="0"/>
                  </a:lnTo>
                  <a:cubicBezTo>
                    <a:pt x="693969" y="0"/>
                    <a:pt x="720035" y="10797"/>
                    <a:pt x="739254" y="30016"/>
                  </a:cubicBezTo>
                  <a:cubicBezTo>
                    <a:pt x="758474" y="49235"/>
                    <a:pt x="769271" y="75302"/>
                    <a:pt x="769271" y="102482"/>
                  </a:cubicBezTo>
                  <a:lnTo>
                    <a:pt x="769271" y="102482"/>
                  </a:lnTo>
                  <a:cubicBezTo>
                    <a:pt x="769271" y="129662"/>
                    <a:pt x="758474" y="155729"/>
                    <a:pt x="739254" y="174948"/>
                  </a:cubicBezTo>
                  <a:cubicBezTo>
                    <a:pt x="720035" y="194167"/>
                    <a:pt x="693969" y="204964"/>
                    <a:pt x="666789" y="204964"/>
                  </a:cubicBezTo>
                  <a:lnTo>
                    <a:pt x="102482" y="204964"/>
                  </a:lnTo>
                  <a:cubicBezTo>
                    <a:pt x="75302" y="204964"/>
                    <a:pt x="49235" y="194167"/>
                    <a:pt x="30016" y="174948"/>
                  </a:cubicBezTo>
                  <a:cubicBezTo>
                    <a:pt x="10797" y="155729"/>
                    <a:pt x="0" y="129662"/>
                    <a:pt x="0" y="102482"/>
                  </a:cubicBezTo>
                  <a:lnTo>
                    <a:pt x="0" y="102482"/>
                  </a:lnTo>
                  <a:cubicBezTo>
                    <a:pt x="0" y="75302"/>
                    <a:pt x="10797" y="49235"/>
                    <a:pt x="30016" y="30016"/>
                  </a:cubicBezTo>
                  <a:cubicBezTo>
                    <a:pt x="49235" y="10797"/>
                    <a:pt x="75302" y="0"/>
                    <a:pt x="102482" y="0"/>
                  </a:cubicBezTo>
                  <a:close/>
                </a:path>
              </a:pathLst>
            </a:custGeom>
            <a:solidFill>
              <a:srgbClr val="1F285B">
                <a:alpha val="89804"/>
              </a:srgbClr>
            </a:solidFill>
            <a:ln cap="rnd">
              <a:noFill/>
              <a:prstDash val="solid"/>
              <a:round/>
            </a:ln>
          </p:spPr>
          <p:txBody>
            <a:bodyPr/>
            <a:lstStyle/>
            <a:p>
              <a:endParaRPr lang="zh-TW" altLang="en-US"/>
            </a:p>
          </p:txBody>
        </p:sp>
        <p:sp>
          <p:nvSpPr>
            <p:cNvPr id="9" name="TextBox 9"/>
            <p:cNvSpPr txBox="1"/>
            <p:nvPr/>
          </p:nvSpPr>
          <p:spPr>
            <a:xfrm>
              <a:off x="0" y="-38100"/>
              <a:ext cx="769271" cy="243064"/>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276212" y="4151639"/>
            <a:ext cx="16502061" cy="2613025"/>
          </a:xfrm>
          <a:prstGeom prst="rect">
            <a:avLst/>
          </a:prstGeom>
        </p:spPr>
        <p:txBody>
          <a:bodyPr lIns="0" tIns="0" rIns="0" bIns="0" rtlCol="0" anchor="t">
            <a:spAutoFit/>
          </a:bodyPr>
          <a:lstStyle/>
          <a:p>
            <a:pPr marL="539749" lvl="1" indent="-269875" algn="l">
              <a:lnSpc>
                <a:spcPts val="3499"/>
              </a:lnSpc>
              <a:buFont typeface="Arial"/>
              <a:buChar char="•"/>
            </a:pPr>
            <a:r>
              <a:rPr lang="en-US" sz="2499" b="1" dirty="0">
                <a:solidFill>
                  <a:srgbClr val="1F285B"/>
                </a:solidFill>
                <a:latin typeface="Quicksand Bold"/>
                <a:ea typeface="Quicksand Bold"/>
                <a:cs typeface="Quicksand Bold"/>
                <a:sym typeface="Quicksand Bold"/>
              </a:rPr>
              <a:t>Speech recognition : </a:t>
            </a:r>
            <a:r>
              <a:rPr lang="en-US" sz="2499" dirty="0">
                <a:solidFill>
                  <a:srgbClr val="1F285B"/>
                </a:solidFill>
                <a:latin typeface="Quicksand"/>
                <a:ea typeface="Quicksand"/>
                <a:cs typeface="Quicksand"/>
                <a:sym typeface="Quicksand"/>
              </a:rPr>
              <a:t>Use Faster-Whisper + </a:t>
            </a:r>
            <a:r>
              <a:rPr lang="en-US" sz="2499" dirty="0" err="1">
                <a:solidFill>
                  <a:srgbClr val="1F285B"/>
                </a:solidFill>
                <a:latin typeface="Quicksand"/>
                <a:ea typeface="Quicksand"/>
                <a:cs typeface="Quicksand"/>
                <a:sym typeface="Quicksand"/>
              </a:rPr>
              <a:t>NeMo</a:t>
            </a:r>
            <a:r>
              <a:rPr lang="en-US" sz="2499" dirty="0">
                <a:solidFill>
                  <a:srgbClr val="1F285B"/>
                </a:solidFill>
                <a:latin typeface="Quicksand"/>
                <a:ea typeface="Quicksand"/>
                <a:cs typeface="Quicksand"/>
                <a:sym typeface="Quicksand"/>
              </a:rPr>
              <a:t> to transcribe dubbed audio, detect speakers, and generate timestamps.</a:t>
            </a:r>
          </a:p>
          <a:p>
            <a:pPr marL="539749" lvl="1" indent="-269875" algn="l">
              <a:lnSpc>
                <a:spcPts val="3499"/>
              </a:lnSpc>
              <a:buFont typeface="Arial"/>
              <a:buChar char="•"/>
            </a:pPr>
            <a:r>
              <a:rPr lang="en-US" sz="2499" b="1" dirty="0">
                <a:solidFill>
                  <a:srgbClr val="1F285B"/>
                </a:solidFill>
                <a:latin typeface="Quicksand Bold"/>
                <a:ea typeface="Quicksand Bold"/>
                <a:cs typeface="Quicksand Bold"/>
                <a:sym typeface="Quicksand Bold"/>
              </a:rPr>
              <a:t>Speaker identification </a:t>
            </a:r>
            <a:r>
              <a:rPr lang="en-US" sz="2499" dirty="0">
                <a:solidFill>
                  <a:srgbClr val="1F285B"/>
                </a:solidFill>
                <a:latin typeface="Quicksand"/>
                <a:ea typeface="Quicksand"/>
                <a:cs typeface="Quicksand"/>
                <a:sym typeface="Quicksand"/>
              </a:rPr>
              <a:t>: Match uploaded actor images to speaker’s ID and speech in each clip cut by timestamps.</a:t>
            </a:r>
          </a:p>
          <a:p>
            <a:pPr marL="539749" lvl="1" indent="-269875" algn="l">
              <a:lnSpc>
                <a:spcPts val="3499"/>
              </a:lnSpc>
              <a:buFont typeface="Arial"/>
              <a:buChar char="•"/>
            </a:pPr>
            <a:r>
              <a:rPr lang="en-US" sz="2499" b="1" dirty="0">
                <a:solidFill>
                  <a:srgbClr val="1F285B"/>
                </a:solidFill>
                <a:latin typeface="Quicksand Bold"/>
                <a:ea typeface="Quicksand Bold"/>
                <a:cs typeface="Quicksand Bold"/>
                <a:sym typeface="Quicksand Bold"/>
              </a:rPr>
              <a:t>Lip sync : </a:t>
            </a:r>
            <a:r>
              <a:rPr lang="en-US" sz="2499" dirty="0">
                <a:solidFill>
                  <a:srgbClr val="1F285B"/>
                </a:solidFill>
                <a:latin typeface="Quicksand"/>
                <a:ea typeface="Quicksand"/>
                <a:cs typeface="Quicksand"/>
                <a:sym typeface="Quicksand"/>
              </a:rPr>
              <a:t>Use Face-Recognition + Wav2Lip to adjust lip movements accurately.</a:t>
            </a:r>
          </a:p>
          <a:p>
            <a:pPr marL="539749" lvl="1" indent="-269875" algn="l">
              <a:lnSpc>
                <a:spcPts val="3499"/>
              </a:lnSpc>
              <a:buFont typeface="Arial"/>
              <a:buChar char="•"/>
            </a:pPr>
            <a:r>
              <a:rPr lang="en-US" sz="2499" dirty="0">
                <a:solidFill>
                  <a:srgbClr val="1F285B"/>
                </a:solidFill>
                <a:latin typeface="Quicksand"/>
                <a:ea typeface="Quicksand"/>
                <a:cs typeface="Quicksand"/>
                <a:sym typeface="Quicksand"/>
              </a:rPr>
              <a:t>Combine all processed clip into a final lip-synced video.</a:t>
            </a:r>
          </a:p>
        </p:txBody>
      </p:sp>
      <p:sp>
        <p:nvSpPr>
          <p:cNvPr id="11" name="TextBox 11"/>
          <p:cNvSpPr txBox="1"/>
          <p:nvPr/>
        </p:nvSpPr>
        <p:spPr>
          <a:xfrm>
            <a:off x="-1819326" y="3307485"/>
            <a:ext cx="9063941" cy="523875"/>
          </a:xfrm>
          <a:prstGeom prst="rect">
            <a:avLst/>
          </a:prstGeom>
        </p:spPr>
        <p:txBody>
          <a:bodyPr lIns="0" tIns="0" rIns="0" bIns="0" rtlCol="0" anchor="t">
            <a:spAutoFit/>
          </a:bodyPr>
          <a:lstStyle/>
          <a:p>
            <a:pPr algn="ctr">
              <a:lnSpc>
                <a:spcPts val="4200"/>
              </a:lnSpc>
            </a:pPr>
            <a:r>
              <a:rPr lang="en-US" sz="3000">
                <a:solidFill>
                  <a:srgbClr val="FFFDF9"/>
                </a:solidFill>
                <a:latin typeface="Archivo Black"/>
                <a:ea typeface="Archivo Black"/>
                <a:cs typeface="Archivo Black"/>
                <a:sym typeface="Archivo Black"/>
              </a:rPr>
              <a:t>STEPS</a:t>
            </a:r>
          </a:p>
        </p:txBody>
      </p:sp>
      <p:grpSp>
        <p:nvGrpSpPr>
          <p:cNvPr id="12" name="Group 12"/>
          <p:cNvGrpSpPr/>
          <p:nvPr/>
        </p:nvGrpSpPr>
        <p:grpSpPr>
          <a:xfrm>
            <a:off x="1300192" y="7490437"/>
            <a:ext cx="2920825" cy="778223"/>
            <a:chOff x="0" y="0"/>
            <a:chExt cx="769271" cy="204964"/>
          </a:xfrm>
        </p:grpSpPr>
        <p:sp>
          <p:nvSpPr>
            <p:cNvPr id="13" name="Freeform 13"/>
            <p:cNvSpPr/>
            <p:nvPr/>
          </p:nvSpPr>
          <p:spPr>
            <a:xfrm>
              <a:off x="0" y="0"/>
              <a:ext cx="769271" cy="204964"/>
            </a:xfrm>
            <a:custGeom>
              <a:avLst/>
              <a:gdLst/>
              <a:ahLst/>
              <a:cxnLst/>
              <a:rect l="l" t="t" r="r" b="b"/>
              <a:pathLst>
                <a:path w="769271" h="204964">
                  <a:moveTo>
                    <a:pt x="102482" y="0"/>
                  </a:moveTo>
                  <a:lnTo>
                    <a:pt x="666789" y="0"/>
                  </a:lnTo>
                  <a:cubicBezTo>
                    <a:pt x="693969" y="0"/>
                    <a:pt x="720035" y="10797"/>
                    <a:pt x="739254" y="30016"/>
                  </a:cubicBezTo>
                  <a:cubicBezTo>
                    <a:pt x="758474" y="49235"/>
                    <a:pt x="769271" y="75302"/>
                    <a:pt x="769271" y="102482"/>
                  </a:cubicBezTo>
                  <a:lnTo>
                    <a:pt x="769271" y="102482"/>
                  </a:lnTo>
                  <a:cubicBezTo>
                    <a:pt x="769271" y="129662"/>
                    <a:pt x="758474" y="155729"/>
                    <a:pt x="739254" y="174948"/>
                  </a:cubicBezTo>
                  <a:cubicBezTo>
                    <a:pt x="720035" y="194167"/>
                    <a:pt x="693969" y="204964"/>
                    <a:pt x="666789" y="204964"/>
                  </a:cubicBezTo>
                  <a:lnTo>
                    <a:pt x="102482" y="204964"/>
                  </a:lnTo>
                  <a:cubicBezTo>
                    <a:pt x="75302" y="204964"/>
                    <a:pt x="49235" y="194167"/>
                    <a:pt x="30016" y="174948"/>
                  </a:cubicBezTo>
                  <a:cubicBezTo>
                    <a:pt x="10797" y="155729"/>
                    <a:pt x="0" y="129662"/>
                    <a:pt x="0" y="102482"/>
                  </a:cubicBezTo>
                  <a:lnTo>
                    <a:pt x="0" y="102482"/>
                  </a:lnTo>
                  <a:cubicBezTo>
                    <a:pt x="0" y="75302"/>
                    <a:pt x="10797" y="49235"/>
                    <a:pt x="30016" y="30016"/>
                  </a:cubicBezTo>
                  <a:cubicBezTo>
                    <a:pt x="49235" y="10797"/>
                    <a:pt x="75302" y="0"/>
                    <a:pt x="102482" y="0"/>
                  </a:cubicBezTo>
                  <a:close/>
                </a:path>
              </a:pathLst>
            </a:custGeom>
            <a:solidFill>
              <a:srgbClr val="1F285B">
                <a:alpha val="89804"/>
              </a:srgbClr>
            </a:solidFill>
            <a:ln cap="rnd">
              <a:noFill/>
              <a:prstDash val="solid"/>
              <a:round/>
            </a:ln>
          </p:spPr>
          <p:txBody>
            <a:bodyPr/>
            <a:lstStyle/>
            <a:p>
              <a:endParaRPr lang="zh-TW" altLang="en-US"/>
            </a:p>
          </p:txBody>
        </p:sp>
        <p:sp>
          <p:nvSpPr>
            <p:cNvPr id="14" name="TextBox 14"/>
            <p:cNvSpPr txBox="1"/>
            <p:nvPr/>
          </p:nvSpPr>
          <p:spPr>
            <a:xfrm>
              <a:off x="0" y="-38100"/>
              <a:ext cx="769271" cy="243064"/>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1300192" y="8435975"/>
            <a:ext cx="14277988" cy="42227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1F285B"/>
                </a:solidFill>
                <a:latin typeface="Quicksand"/>
                <a:ea typeface="Quicksand"/>
                <a:cs typeface="Quicksand"/>
                <a:sym typeface="Quicksand"/>
              </a:rPr>
              <a:t>Successfully match the dubbed audio speech with the actor’s lip</a:t>
            </a:r>
          </a:p>
        </p:txBody>
      </p:sp>
      <p:sp>
        <p:nvSpPr>
          <p:cNvPr id="16" name="TextBox 16"/>
          <p:cNvSpPr txBox="1"/>
          <p:nvPr/>
        </p:nvSpPr>
        <p:spPr>
          <a:xfrm>
            <a:off x="-1795346" y="7593799"/>
            <a:ext cx="9063941" cy="523875"/>
          </a:xfrm>
          <a:prstGeom prst="rect">
            <a:avLst/>
          </a:prstGeom>
        </p:spPr>
        <p:txBody>
          <a:bodyPr lIns="0" tIns="0" rIns="0" bIns="0" rtlCol="0" anchor="t">
            <a:spAutoFit/>
          </a:bodyPr>
          <a:lstStyle/>
          <a:p>
            <a:pPr algn="ctr">
              <a:lnSpc>
                <a:spcPts val="4200"/>
              </a:lnSpc>
            </a:pPr>
            <a:r>
              <a:rPr lang="en-US" sz="3000">
                <a:solidFill>
                  <a:srgbClr val="FFFDF9"/>
                </a:solidFill>
                <a:latin typeface="Archivo Black"/>
                <a:ea typeface="Archivo Black"/>
                <a:cs typeface="Archivo Black"/>
                <a:sym typeface="Archivo Black"/>
              </a:rPr>
              <a:t>RESULT</a:t>
            </a:r>
          </a:p>
        </p:txBody>
      </p:sp>
      <p:sp>
        <p:nvSpPr>
          <p:cNvPr id="17" name="Freeform 17"/>
          <p:cNvSpPr/>
          <p:nvPr/>
        </p:nvSpPr>
        <p:spPr>
          <a:xfrm>
            <a:off x="17259300" y="7637745"/>
            <a:ext cx="842695" cy="635851"/>
          </a:xfrm>
          <a:custGeom>
            <a:avLst/>
            <a:gdLst/>
            <a:ahLst/>
            <a:cxnLst/>
            <a:rect l="l" t="t" r="r" b="b"/>
            <a:pathLst>
              <a:path w="842695" h="635851">
                <a:moveTo>
                  <a:pt x="0" y="0"/>
                </a:moveTo>
                <a:lnTo>
                  <a:pt x="842695" y="0"/>
                </a:lnTo>
                <a:lnTo>
                  <a:pt x="842695" y="635852"/>
                </a:lnTo>
                <a:lnTo>
                  <a:pt x="0" y="6358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18" name="Freeform 18"/>
          <p:cNvSpPr/>
          <p:nvPr/>
        </p:nvSpPr>
        <p:spPr>
          <a:xfrm flipV="1">
            <a:off x="16151540" y="8394953"/>
            <a:ext cx="1950455" cy="3336397"/>
          </a:xfrm>
          <a:custGeom>
            <a:avLst/>
            <a:gdLst/>
            <a:ahLst/>
            <a:cxnLst/>
            <a:rect l="l" t="t" r="r" b="b"/>
            <a:pathLst>
              <a:path w="1950455" h="3336397">
                <a:moveTo>
                  <a:pt x="0" y="3336396"/>
                </a:moveTo>
                <a:lnTo>
                  <a:pt x="1950455" y="3336396"/>
                </a:lnTo>
                <a:lnTo>
                  <a:pt x="1950455" y="0"/>
                </a:lnTo>
                <a:lnTo>
                  <a:pt x="0" y="0"/>
                </a:lnTo>
                <a:lnTo>
                  <a:pt x="0" y="333639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19" name="Freeform 19"/>
          <p:cNvSpPr/>
          <p:nvPr/>
        </p:nvSpPr>
        <p:spPr>
          <a:xfrm>
            <a:off x="78563" y="7637745"/>
            <a:ext cx="753876" cy="568834"/>
          </a:xfrm>
          <a:custGeom>
            <a:avLst/>
            <a:gdLst/>
            <a:ahLst/>
            <a:cxnLst/>
            <a:rect l="l" t="t" r="r" b="b"/>
            <a:pathLst>
              <a:path w="753876" h="568834">
                <a:moveTo>
                  <a:pt x="0" y="0"/>
                </a:moveTo>
                <a:lnTo>
                  <a:pt x="753876" y="0"/>
                </a:lnTo>
                <a:lnTo>
                  <a:pt x="753876" y="568834"/>
                </a:lnTo>
                <a:lnTo>
                  <a:pt x="0" y="5688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20" name="Freeform 20"/>
          <p:cNvSpPr/>
          <p:nvPr/>
        </p:nvSpPr>
        <p:spPr>
          <a:xfrm>
            <a:off x="-99604" y="8370707"/>
            <a:ext cx="1864086" cy="3188655"/>
          </a:xfrm>
          <a:custGeom>
            <a:avLst/>
            <a:gdLst/>
            <a:ahLst/>
            <a:cxnLst/>
            <a:rect l="l" t="t" r="r" b="b"/>
            <a:pathLst>
              <a:path w="1864086" h="3188655">
                <a:moveTo>
                  <a:pt x="0" y="0"/>
                </a:moveTo>
                <a:lnTo>
                  <a:pt x="1864086" y="0"/>
                </a:lnTo>
                <a:lnTo>
                  <a:pt x="1864086" y="3188655"/>
                </a:lnTo>
                <a:lnTo>
                  <a:pt x="0" y="31886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21" name="Freeform 21"/>
          <p:cNvSpPr/>
          <p:nvPr/>
        </p:nvSpPr>
        <p:spPr>
          <a:xfrm>
            <a:off x="5820133" y="8968458"/>
            <a:ext cx="6943659" cy="1239920"/>
          </a:xfrm>
          <a:custGeom>
            <a:avLst/>
            <a:gdLst/>
            <a:ahLst/>
            <a:cxnLst/>
            <a:rect l="l" t="t" r="r" b="b"/>
            <a:pathLst>
              <a:path w="6943659" h="1239920">
                <a:moveTo>
                  <a:pt x="0" y="0"/>
                </a:moveTo>
                <a:lnTo>
                  <a:pt x="6943659" y="0"/>
                </a:lnTo>
                <a:lnTo>
                  <a:pt x="6943659" y="1239920"/>
                </a:lnTo>
                <a:lnTo>
                  <a:pt x="0" y="1239920"/>
                </a:lnTo>
                <a:lnTo>
                  <a:pt x="0" y="0"/>
                </a:lnTo>
                <a:close/>
              </a:path>
            </a:pathLst>
          </a:custGeom>
          <a:blipFill>
            <a:blip r:embed="rId10">
              <a:extLst>
                <a:ext uri="{96DAC541-7B7A-43D3-8B79-37D633B846F1}">
                  <asvg:svgBlip xmlns:asvg="http://schemas.microsoft.com/office/drawing/2016/SVG/main" r:embed="rId11"/>
                </a:ext>
              </a:extLst>
            </a:blip>
            <a:stretch>
              <a:fillRect l="-33800" t="-429675" r="-33469"/>
            </a:stretch>
          </a:blipFill>
        </p:spPr>
        <p:txBody>
          <a:bodyPr/>
          <a:lstStyle/>
          <a:p>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2" name="TextBox 2"/>
          <p:cNvSpPr txBox="1"/>
          <p:nvPr/>
        </p:nvSpPr>
        <p:spPr>
          <a:xfrm>
            <a:off x="4175624" y="3074803"/>
            <a:ext cx="10032487" cy="3617258"/>
          </a:xfrm>
          <a:prstGeom prst="rect">
            <a:avLst/>
          </a:prstGeom>
        </p:spPr>
        <p:txBody>
          <a:bodyPr lIns="0" tIns="0" rIns="0" bIns="0" rtlCol="0" anchor="t">
            <a:spAutoFit/>
          </a:bodyPr>
          <a:lstStyle/>
          <a:p>
            <a:pPr algn="ctr">
              <a:lnSpc>
                <a:spcPts val="14022"/>
              </a:lnSpc>
            </a:pPr>
            <a:r>
              <a:rPr lang="en-US" sz="13483">
                <a:solidFill>
                  <a:srgbClr val="1F285B"/>
                </a:solidFill>
                <a:latin typeface="Archivo Black"/>
                <a:ea typeface="Archivo Black"/>
                <a:cs typeface="Archivo Black"/>
                <a:sym typeface="Archivo Black"/>
              </a:rPr>
              <a:t>THANK YOU :)</a:t>
            </a:r>
          </a:p>
        </p:txBody>
      </p:sp>
      <p:sp>
        <p:nvSpPr>
          <p:cNvPr id="3" name="Freeform 3"/>
          <p:cNvSpPr/>
          <p:nvPr/>
        </p:nvSpPr>
        <p:spPr>
          <a:xfrm>
            <a:off x="1256812" y="1684214"/>
            <a:ext cx="1067226" cy="805271"/>
          </a:xfrm>
          <a:custGeom>
            <a:avLst/>
            <a:gdLst/>
            <a:ahLst/>
            <a:cxnLst/>
            <a:rect l="l" t="t" r="r" b="b"/>
            <a:pathLst>
              <a:path w="1067226" h="805271">
                <a:moveTo>
                  <a:pt x="0" y="0"/>
                </a:moveTo>
                <a:lnTo>
                  <a:pt x="1067226" y="0"/>
                </a:lnTo>
                <a:lnTo>
                  <a:pt x="1067226" y="805270"/>
                </a:lnTo>
                <a:lnTo>
                  <a:pt x="0" y="8052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a:p>
        </p:txBody>
      </p:sp>
      <p:sp>
        <p:nvSpPr>
          <p:cNvPr id="4" name="Freeform 4"/>
          <p:cNvSpPr/>
          <p:nvPr/>
        </p:nvSpPr>
        <p:spPr>
          <a:xfrm>
            <a:off x="93003" y="8115749"/>
            <a:ext cx="2095297" cy="3584160"/>
          </a:xfrm>
          <a:custGeom>
            <a:avLst/>
            <a:gdLst/>
            <a:ahLst/>
            <a:cxnLst/>
            <a:rect l="l" t="t" r="r" b="b"/>
            <a:pathLst>
              <a:path w="2095297" h="3584160">
                <a:moveTo>
                  <a:pt x="0" y="0"/>
                </a:moveTo>
                <a:lnTo>
                  <a:pt x="2095297" y="0"/>
                </a:lnTo>
                <a:lnTo>
                  <a:pt x="2095297" y="3584160"/>
                </a:lnTo>
                <a:lnTo>
                  <a:pt x="0" y="35841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TW" altLang="en-US"/>
          </a:p>
        </p:txBody>
      </p:sp>
      <p:sp>
        <p:nvSpPr>
          <p:cNvPr id="5" name="Freeform 5"/>
          <p:cNvSpPr/>
          <p:nvPr/>
        </p:nvSpPr>
        <p:spPr>
          <a:xfrm>
            <a:off x="17352303" y="7606305"/>
            <a:ext cx="842695" cy="635851"/>
          </a:xfrm>
          <a:custGeom>
            <a:avLst/>
            <a:gdLst/>
            <a:ahLst/>
            <a:cxnLst/>
            <a:rect l="l" t="t" r="r" b="b"/>
            <a:pathLst>
              <a:path w="842695" h="635851">
                <a:moveTo>
                  <a:pt x="0" y="0"/>
                </a:moveTo>
                <a:lnTo>
                  <a:pt x="842694" y="0"/>
                </a:lnTo>
                <a:lnTo>
                  <a:pt x="842694" y="635852"/>
                </a:lnTo>
                <a:lnTo>
                  <a:pt x="0" y="6358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zh-TW" altLang="en-US"/>
          </a:p>
        </p:txBody>
      </p:sp>
      <p:sp>
        <p:nvSpPr>
          <p:cNvPr id="6" name="Freeform 6"/>
          <p:cNvSpPr/>
          <p:nvPr/>
        </p:nvSpPr>
        <p:spPr>
          <a:xfrm flipV="1">
            <a:off x="16244542" y="8363513"/>
            <a:ext cx="1950455" cy="3336397"/>
          </a:xfrm>
          <a:custGeom>
            <a:avLst/>
            <a:gdLst/>
            <a:ahLst/>
            <a:cxnLst/>
            <a:rect l="l" t="t" r="r" b="b"/>
            <a:pathLst>
              <a:path w="1950455" h="3336397">
                <a:moveTo>
                  <a:pt x="0" y="3336396"/>
                </a:moveTo>
                <a:lnTo>
                  <a:pt x="1950455" y="3336396"/>
                </a:lnTo>
                <a:lnTo>
                  <a:pt x="1950455" y="0"/>
                </a:lnTo>
                <a:lnTo>
                  <a:pt x="0" y="0"/>
                </a:lnTo>
                <a:lnTo>
                  <a:pt x="0" y="3336396"/>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zh-TW" altLang="en-US"/>
          </a:p>
        </p:txBody>
      </p:sp>
      <p:sp>
        <p:nvSpPr>
          <p:cNvPr id="7" name="Freeform 7"/>
          <p:cNvSpPr/>
          <p:nvPr/>
        </p:nvSpPr>
        <p:spPr>
          <a:xfrm>
            <a:off x="5243297" y="8657192"/>
            <a:ext cx="7990478" cy="1426849"/>
          </a:xfrm>
          <a:custGeom>
            <a:avLst/>
            <a:gdLst/>
            <a:ahLst/>
            <a:cxnLst/>
            <a:rect l="l" t="t" r="r" b="b"/>
            <a:pathLst>
              <a:path w="7990478" h="1426849">
                <a:moveTo>
                  <a:pt x="0" y="0"/>
                </a:moveTo>
                <a:lnTo>
                  <a:pt x="7990478" y="0"/>
                </a:lnTo>
                <a:lnTo>
                  <a:pt x="7990478" y="1426850"/>
                </a:lnTo>
                <a:lnTo>
                  <a:pt x="0" y="1426850"/>
                </a:lnTo>
                <a:lnTo>
                  <a:pt x="0" y="0"/>
                </a:lnTo>
                <a:close/>
              </a:path>
            </a:pathLst>
          </a:custGeom>
          <a:blipFill>
            <a:blip r:embed="rId10">
              <a:extLst>
                <a:ext uri="{96DAC541-7B7A-43D3-8B79-37D633B846F1}">
                  <asvg:svgBlip xmlns:asvg="http://schemas.microsoft.com/office/drawing/2016/SVG/main" r:embed="rId11"/>
                </a:ext>
              </a:extLst>
            </a:blip>
            <a:stretch>
              <a:fillRect l="-33800" t="-429675" r="-33469"/>
            </a:stretch>
          </a:blipFill>
        </p:spPr>
        <p:txBody>
          <a:bodyPr/>
          <a:lstStyle/>
          <a:p>
            <a:endParaRPr lang="zh-TW"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919</Words>
  <Application>Microsoft Office PowerPoint</Application>
  <PresentationFormat>Custom</PresentationFormat>
  <Paragraphs>111</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Archivo Black</vt:lpstr>
      <vt:lpstr>Arial</vt:lpstr>
      <vt:lpstr>Quicksand</vt:lpstr>
      <vt:lpstr>Calibri</vt:lpstr>
      <vt:lpstr>Canva Sans Bold</vt:lpstr>
      <vt:lpstr>Quicksand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French Blue Minimalist Modern Thesis Defense Presentation</dc:title>
  <cp:lastModifiedBy>羅翡瑩 Valencia</cp:lastModifiedBy>
  <cp:revision>9</cp:revision>
  <dcterms:created xsi:type="dcterms:W3CDTF">2006-08-16T00:00:00Z</dcterms:created>
  <dcterms:modified xsi:type="dcterms:W3CDTF">2025-05-27T11:37:57Z</dcterms:modified>
  <dc:identifier>DAGennjkSsU</dc:identifier>
</cp:coreProperties>
</file>